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cx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287" y="1783080"/>
            <a:ext cx="4389120" cy="104528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352647" y="2960036"/>
            <a:ext cx="5486400" cy="221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48" b="1" i="0" spc="100">
                <a:solidFill>
                  <a:srgbClr val="0F5C56"/>
                </a:solidFill>
                <a:latin typeface="Open Sans"/>
              </a:rPr>
              <a:t>Every Voice. Every Insight.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3847" y="342900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475569"/>
                </a:solidFill>
                <a:latin typeface="Open Sans"/>
              </a:rPr>
              <a:t>AI-powered Voice of Customer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047" y="3977639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1">
                <a:solidFill>
                  <a:srgbClr val="64748B"/>
                </a:solidFill>
                <a:latin typeface="Open Sans"/>
              </a:rPr>
              <a:t>Transforming customer feedback into structured insight and actionable business intelligence.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63927" y="4800600"/>
            <a:ext cx="237744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350" b="1" i="0">
                <a:solidFill>
                  <a:srgbClr val="2E2A6E"/>
                </a:solidFill>
                <a:latin typeface="Roboto"/>
              </a:rPr>
              <a:t>Customer Feedback</a:t>
            </a:r>
          </a:p>
        </p:txBody>
      </p:sp>
      <p:sp>
        <p:nvSpPr>
          <p:cNvPr id="7" name="Chevron 6"/>
          <p:cNvSpPr/>
          <p:nvPr/>
        </p:nvSpPr>
        <p:spPr>
          <a:xfrm>
            <a:off x="4541367" y="5080406"/>
            <a:ext cx="365760" cy="217627"/>
          </a:xfrm>
          <a:prstGeom prst="chevron">
            <a:avLst/>
          </a:prstGeom>
          <a:solidFill>
            <a:srgbClr val="0F5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907127" y="4800600"/>
            <a:ext cx="237744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350" b="1" i="0">
                <a:solidFill>
                  <a:srgbClr val="2E2A6E"/>
                </a:solidFill>
                <a:latin typeface="Roboto"/>
              </a:rPr>
              <a:t>AI Analysis</a:t>
            </a:r>
          </a:p>
        </p:txBody>
      </p:sp>
      <p:sp>
        <p:nvSpPr>
          <p:cNvPr id="9" name="Chevron 8"/>
          <p:cNvSpPr/>
          <p:nvPr/>
        </p:nvSpPr>
        <p:spPr>
          <a:xfrm>
            <a:off x="7284567" y="5080406"/>
            <a:ext cx="365760" cy="217627"/>
          </a:xfrm>
          <a:prstGeom prst="chevron">
            <a:avLst/>
          </a:prstGeom>
          <a:solidFill>
            <a:srgbClr val="0F5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50327" y="4800600"/>
            <a:ext cx="237744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350" b="1" i="0">
                <a:solidFill>
                  <a:srgbClr val="2E2A6E"/>
                </a:solidFill>
                <a:latin typeface="Roboto"/>
              </a:rPr>
              <a:t>Actionable Insight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 spc="170">
                <a:solidFill>
                  <a:srgbClr val="0D9488"/>
                </a:solidFill>
                <a:latin typeface="Open Sans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94944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172A"/>
                </a:solidFill>
                <a:latin typeface="Roboto"/>
              </a:rPr>
              <a:t>What we'll cover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828800"/>
            <a:ext cx="329184" cy="329184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491627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E293B"/>
                </a:solidFill>
                <a:latin typeface="Roboto"/>
              </a:rPr>
              <a:t>The Problem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2514600"/>
            <a:ext cx="329184" cy="329184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514600"/>
            <a:ext cx="491627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E293B"/>
                </a:solidFill>
                <a:latin typeface="Roboto"/>
              </a:rPr>
              <a:t>The Business Scenario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3200400"/>
            <a:ext cx="329184" cy="329184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200400"/>
            <a:ext cx="491627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E293B"/>
                </a:solidFill>
                <a:latin typeface="Roboto"/>
              </a:rPr>
              <a:t>InsightCX Overview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886200"/>
            <a:ext cx="329184" cy="329184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886200"/>
            <a:ext cx="491627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E293B"/>
                </a:solidFill>
                <a:latin typeface="Roboto"/>
              </a:rPr>
              <a:t>LLM Capability 1 — Structuring Feedback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4572000"/>
            <a:ext cx="329184" cy="329184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4572000"/>
            <a:ext cx="491627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E293B"/>
                </a:solidFill>
                <a:latin typeface="Roboto"/>
              </a:rPr>
              <a:t>LLM Capability 2 — Executive Insight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5257800"/>
            <a:ext cx="329184" cy="329184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5257800"/>
            <a:ext cx="491627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E293B"/>
                </a:solidFill>
                <a:latin typeface="Roboto"/>
              </a:rPr>
              <a:t>The Dashboard</a:t>
            </a:r>
          </a:p>
        </p:txBody>
      </p:sp>
      <p:sp>
        <p:nvSpPr>
          <p:cNvPr id="16" name="Oval 15"/>
          <p:cNvSpPr/>
          <p:nvPr/>
        </p:nvSpPr>
        <p:spPr>
          <a:xfrm>
            <a:off x="6324447" y="1828800"/>
            <a:ext cx="329184" cy="329184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8223" y="1828800"/>
            <a:ext cx="491627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E293B"/>
                </a:solidFill>
                <a:latin typeface="Roboto"/>
              </a:rPr>
              <a:t>From AI Output to Business Decision</a:t>
            </a:r>
          </a:p>
        </p:txBody>
      </p:sp>
      <p:sp>
        <p:nvSpPr>
          <p:cNvPr id="18" name="Oval 17"/>
          <p:cNvSpPr/>
          <p:nvPr/>
        </p:nvSpPr>
        <p:spPr>
          <a:xfrm>
            <a:off x="6324447" y="2514600"/>
            <a:ext cx="329184" cy="329184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8223" y="2514600"/>
            <a:ext cx="491627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E293B"/>
                </a:solidFill>
                <a:latin typeface="Roboto"/>
              </a:rPr>
              <a:t>AI Evaluation</a:t>
            </a:r>
          </a:p>
        </p:txBody>
      </p:sp>
      <p:sp>
        <p:nvSpPr>
          <p:cNvPr id="20" name="Oval 19"/>
          <p:cNvSpPr/>
          <p:nvPr/>
        </p:nvSpPr>
        <p:spPr>
          <a:xfrm>
            <a:off x="6324447" y="3200400"/>
            <a:ext cx="329184" cy="329184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oboto"/>
              </a:rP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8223" y="3200400"/>
            <a:ext cx="491627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E293B"/>
                </a:solidFill>
                <a:latin typeface="Roboto"/>
              </a:rPr>
              <a:t>Lessons Learned — What It Took to Build</a:t>
            </a:r>
          </a:p>
        </p:txBody>
      </p:sp>
      <p:sp>
        <p:nvSpPr>
          <p:cNvPr id="22" name="Oval 21"/>
          <p:cNvSpPr/>
          <p:nvPr/>
        </p:nvSpPr>
        <p:spPr>
          <a:xfrm>
            <a:off x="6324447" y="3886200"/>
            <a:ext cx="329184" cy="329184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oboto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8223" y="3886200"/>
            <a:ext cx="491627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E293B"/>
                </a:solidFill>
                <a:latin typeface="Roboto"/>
              </a:rPr>
              <a:t>What's Next — Beyond the MVP</a:t>
            </a:r>
          </a:p>
        </p:txBody>
      </p:sp>
      <p:sp>
        <p:nvSpPr>
          <p:cNvPr id="24" name="Oval 23"/>
          <p:cNvSpPr/>
          <p:nvPr/>
        </p:nvSpPr>
        <p:spPr>
          <a:xfrm>
            <a:off x="6324447" y="4572000"/>
            <a:ext cx="329184" cy="329184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8223" y="4572000"/>
            <a:ext cx="491627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E293B"/>
                </a:solidFill>
                <a:latin typeface="Roboto"/>
              </a:rPr>
              <a:t>Live Demo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56539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94A3B8"/>
                </a:solidFill>
                <a:latin typeface="Roboto"/>
              </a:rPr>
              <a:t>InsightCX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20095" y="656539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Open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 spc="170">
                <a:solidFill>
                  <a:srgbClr val="0D9488"/>
                </a:solidFill>
                <a:latin typeface="Open San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94944"/>
            <a:ext cx="11277295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172A"/>
                </a:solidFill>
                <a:latin typeface="Roboto"/>
              </a:rPr>
              <a:t>Customer feedback contains the answers — but they're buried in text.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74519"/>
            <a:ext cx="5519775" cy="813816"/>
          </a:xfrm>
          <a:prstGeom prst="roundRect">
            <a:avLst>
              <a:gd name="adj" fmla="val 8000"/>
            </a:avLst>
          </a:prstGeom>
          <a:solidFill>
            <a:srgbClr val="E7F8F4"/>
          </a:solidFill>
          <a:ln w="952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79222" bIns="179222"/>
          <a:lstStyle/>
          <a:p>
            <a:pPr algn="l"/>
            <a:r>
              <a:rPr sz="1300" b="1" i="0">
                <a:solidFill>
                  <a:srgbClr val="0F5C56"/>
                </a:solidFill>
                <a:latin typeface="Roboto"/>
              </a:rPr>
              <a:t>“The sofa is beautiful, but delivery was two days late.”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4719" y="1874519"/>
            <a:ext cx="5519775" cy="813816"/>
          </a:xfrm>
          <a:prstGeom prst="roundRect">
            <a:avLst>
              <a:gd name="adj" fmla="val 8000"/>
            </a:avLst>
          </a:prstGeom>
          <a:solidFill>
            <a:srgbClr val="E7F8F4"/>
          </a:solidFill>
          <a:ln w="952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79222" bIns="179222"/>
          <a:lstStyle/>
          <a:p>
            <a:pPr algn="l"/>
            <a:r>
              <a:rPr sz="1300" b="1" i="0">
                <a:solidFill>
                  <a:srgbClr val="0F5C56"/>
                </a:solidFill>
                <a:latin typeface="Roboto"/>
              </a:rPr>
              <a:t>“The assembly instructions were impossible to follow.”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889504"/>
            <a:ext cx="5519775" cy="813816"/>
          </a:xfrm>
          <a:prstGeom prst="roundRect">
            <a:avLst>
              <a:gd name="adj" fmla="val 8000"/>
            </a:avLst>
          </a:prstGeom>
          <a:solidFill>
            <a:srgbClr val="E7F8F4"/>
          </a:solidFill>
          <a:ln w="952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79222" bIns="179222"/>
          <a:lstStyle/>
          <a:p>
            <a:pPr algn="l"/>
            <a:r>
              <a:rPr sz="1300" b="1" i="0">
                <a:solidFill>
                  <a:srgbClr val="0F5C56"/>
                </a:solidFill>
                <a:latin typeface="Roboto"/>
              </a:rPr>
              <a:t>“Returning the table was surprisingly easy.”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4719" y="2889504"/>
            <a:ext cx="5519775" cy="813816"/>
          </a:xfrm>
          <a:prstGeom prst="roundRect">
            <a:avLst>
              <a:gd name="adj" fmla="val 8000"/>
            </a:avLst>
          </a:prstGeom>
          <a:solidFill>
            <a:srgbClr val="E7F8F4"/>
          </a:solidFill>
          <a:ln w="952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79222" bIns="179222"/>
          <a:lstStyle/>
          <a:p>
            <a:pPr algn="l"/>
            <a:r>
              <a:rPr sz="1300" b="1" i="0">
                <a:solidFill>
                  <a:srgbClr val="0F5C56"/>
                </a:solidFill>
                <a:latin typeface="Roboto"/>
              </a:rPr>
              <a:t>“I couldn't find any information about my order.”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959352"/>
            <a:ext cx="2050633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1" i="0">
                <a:solidFill>
                  <a:srgbClr val="1E293B"/>
                </a:solidFill>
                <a:latin typeface="Roboto"/>
              </a:rPr>
              <a:t>Hundreds of
comments</a:t>
            </a:r>
          </a:p>
        </p:txBody>
      </p:sp>
      <p:sp>
        <p:nvSpPr>
          <p:cNvPr id="9" name="Chevron 8"/>
          <p:cNvSpPr/>
          <p:nvPr/>
        </p:nvSpPr>
        <p:spPr>
          <a:xfrm>
            <a:off x="2507833" y="4304995"/>
            <a:ext cx="256032" cy="268833"/>
          </a:xfrm>
          <a:prstGeom prst="chevron">
            <a:avLst/>
          </a:prstGeom>
          <a:solidFill>
            <a:srgbClr val="0F5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63865" y="3959352"/>
            <a:ext cx="2050633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1" i="0">
                <a:solidFill>
                  <a:srgbClr val="1E293B"/>
                </a:solidFill>
                <a:latin typeface="Roboto"/>
              </a:rPr>
              <a:t>Unstructured
customer language</a:t>
            </a:r>
          </a:p>
        </p:txBody>
      </p:sp>
      <p:sp>
        <p:nvSpPr>
          <p:cNvPr id="11" name="Chevron 10"/>
          <p:cNvSpPr/>
          <p:nvPr/>
        </p:nvSpPr>
        <p:spPr>
          <a:xfrm>
            <a:off x="4814498" y="4304995"/>
            <a:ext cx="256032" cy="268833"/>
          </a:xfrm>
          <a:prstGeom prst="chevron">
            <a:avLst/>
          </a:prstGeom>
          <a:solidFill>
            <a:srgbClr val="0F5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70530" y="3959352"/>
            <a:ext cx="2050633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1" i="0">
                <a:solidFill>
                  <a:srgbClr val="1E293B"/>
                </a:solidFill>
                <a:latin typeface="Roboto"/>
              </a:rPr>
              <a:t>Manual
analysis</a:t>
            </a:r>
          </a:p>
        </p:txBody>
      </p:sp>
      <p:sp>
        <p:nvSpPr>
          <p:cNvPr id="13" name="Chevron 12"/>
          <p:cNvSpPr/>
          <p:nvPr/>
        </p:nvSpPr>
        <p:spPr>
          <a:xfrm>
            <a:off x="7121164" y="4304995"/>
            <a:ext cx="256032" cy="268833"/>
          </a:xfrm>
          <a:prstGeom prst="chevron">
            <a:avLst/>
          </a:prstGeom>
          <a:solidFill>
            <a:srgbClr val="0F5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77196" y="3959352"/>
            <a:ext cx="2050633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1" i="0">
                <a:solidFill>
                  <a:srgbClr val="1E293B"/>
                </a:solidFill>
                <a:latin typeface="Roboto"/>
              </a:rPr>
              <a:t>Slow / inconsistent
insight</a:t>
            </a:r>
          </a:p>
        </p:txBody>
      </p:sp>
      <p:sp>
        <p:nvSpPr>
          <p:cNvPr id="15" name="Chevron 14"/>
          <p:cNvSpPr/>
          <p:nvPr/>
        </p:nvSpPr>
        <p:spPr>
          <a:xfrm>
            <a:off x="9427829" y="4304995"/>
            <a:ext cx="256032" cy="268833"/>
          </a:xfrm>
          <a:prstGeom prst="chevron">
            <a:avLst/>
          </a:prstGeom>
          <a:solidFill>
            <a:srgbClr val="0F5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83861" y="3959352"/>
            <a:ext cx="2050633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1" i="0">
                <a:solidFill>
                  <a:srgbClr val="1E293B"/>
                </a:solidFill>
                <a:latin typeface="Roboto"/>
              </a:rPr>
              <a:t>Missed
opportunities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193792"/>
            <a:ext cx="11277295" cy="749808"/>
          </a:xfrm>
          <a:prstGeom prst="roundRect">
            <a:avLst>
              <a:gd name="adj" fmla="val 12000"/>
            </a:avLst>
          </a:prstGeom>
          <a:solidFill>
            <a:srgbClr val="2E2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/>
          <a:lstStyle/>
          <a:p>
            <a:pPr algn="ctr"/>
            <a:r>
              <a:rPr sz="1600" b="1" i="1">
                <a:solidFill>
                  <a:srgbClr val="FFFFFF"/>
                </a:solidFill>
                <a:latin typeface="Roboto"/>
              </a:rPr>
              <a:t>Can an LLM turn that unstructured customer voice into something we can actually analyze?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6539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94A3B8"/>
                </a:solidFill>
                <a:latin typeface="Roboto"/>
              </a:rPr>
              <a:t>InsightCX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56539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 spc="170">
                <a:solidFill>
                  <a:srgbClr val="0D9488"/>
                </a:solidFill>
                <a:latin typeface="Open Sans"/>
              </a:rPr>
              <a:t>THE BUSINESS SCENARIO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94944"/>
            <a:ext cx="11277295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172A"/>
                </a:solidFill>
                <a:latin typeface="Roboto"/>
              </a:rPr>
              <a:t>A home-furnishing retailer with hundreds of customer voices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2094524" cy="685800"/>
          </a:xfrm>
          <a:prstGeom prst="roundRect">
            <a:avLst>
              <a:gd name="adj" fmla="val 1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00" b="1" i="0">
                <a:solidFill>
                  <a:srgbClr val="2E2A6E"/>
                </a:solidFill>
                <a:latin typeface="Roboto"/>
              </a:rPr>
              <a:t>Discover</a:t>
            </a:r>
          </a:p>
        </p:txBody>
      </p:sp>
      <p:sp>
        <p:nvSpPr>
          <p:cNvPr id="5" name="Chevron 4"/>
          <p:cNvSpPr/>
          <p:nvPr/>
        </p:nvSpPr>
        <p:spPr>
          <a:xfrm>
            <a:off x="2551724" y="1938528"/>
            <a:ext cx="201168" cy="192024"/>
          </a:xfrm>
          <a:prstGeom prst="chevron">
            <a:avLst/>
          </a:prstGeom>
          <a:solidFill>
            <a:srgbClr val="2E2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52892" y="1691640"/>
            <a:ext cx="2094524" cy="685800"/>
          </a:xfrm>
          <a:prstGeom prst="roundRect">
            <a:avLst>
              <a:gd name="adj" fmla="val 1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00" b="1" i="0">
                <a:solidFill>
                  <a:srgbClr val="2E2A6E"/>
                </a:solidFill>
                <a:latin typeface="Roboto"/>
              </a:rPr>
              <a:t>Purchase</a:t>
            </a:r>
          </a:p>
        </p:txBody>
      </p:sp>
      <p:sp>
        <p:nvSpPr>
          <p:cNvPr id="7" name="Chevron 6"/>
          <p:cNvSpPr/>
          <p:nvPr/>
        </p:nvSpPr>
        <p:spPr>
          <a:xfrm>
            <a:off x="4847417" y="1938528"/>
            <a:ext cx="201168" cy="192024"/>
          </a:xfrm>
          <a:prstGeom prst="chevron">
            <a:avLst/>
          </a:prstGeom>
          <a:solidFill>
            <a:srgbClr val="2E2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48585" y="1691640"/>
            <a:ext cx="2094524" cy="685800"/>
          </a:xfrm>
          <a:prstGeom prst="roundRect">
            <a:avLst>
              <a:gd name="adj" fmla="val 1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00" b="1" i="0">
                <a:solidFill>
                  <a:srgbClr val="2E2A6E"/>
                </a:solidFill>
                <a:latin typeface="Roboto"/>
              </a:rPr>
              <a:t>Delivery</a:t>
            </a:r>
          </a:p>
        </p:txBody>
      </p:sp>
      <p:sp>
        <p:nvSpPr>
          <p:cNvPr id="9" name="Chevron 8"/>
          <p:cNvSpPr/>
          <p:nvPr/>
        </p:nvSpPr>
        <p:spPr>
          <a:xfrm>
            <a:off x="7143109" y="1938528"/>
            <a:ext cx="201168" cy="192024"/>
          </a:xfrm>
          <a:prstGeom prst="chevron">
            <a:avLst/>
          </a:prstGeom>
          <a:solidFill>
            <a:srgbClr val="2E2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44277" y="1691640"/>
            <a:ext cx="2094524" cy="685800"/>
          </a:xfrm>
          <a:prstGeom prst="roundRect">
            <a:avLst>
              <a:gd name="adj" fmla="val 1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00" b="1" i="0">
                <a:solidFill>
                  <a:srgbClr val="2E2A6E"/>
                </a:solidFill>
                <a:latin typeface="Roboto"/>
              </a:rPr>
              <a:t>Assembly</a:t>
            </a:r>
          </a:p>
        </p:txBody>
      </p:sp>
      <p:sp>
        <p:nvSpPr>
          <p:cNvPr id="11" name="Chevron 10"/>
          <p:cNvSpPr/>
          <p:nvPr/>
        </p:nvSpPr>
        <p:spPr>
          <a:xfrm>
            <a:off x="9438802" y="1938528"/>
            <a:ext cx="201168" cy="192024"/>
          </a:xfrm>
          <a:prstGeom prst="chevron">
            <a:avLst/>
          </a:prstGeom>
          <a:solidFill>
            <a:srgbClr val="2E2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39970" y="1691640"/>
            <a:ext cx="2094524" cy="685800"/>
          </a:xfrm>
          <a:prstGeom prst="roundRect">
            <a:avLst>
              <a:gd name="adj" fmla="val 1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00" b="1" i="0">
                <a:solidFill>
                  <a:srgbClr val="2E2A6E"/>
                </a:solidFill>
                <a:latin typeface="Roboto"/>
              </a:rPr>
              <a:t>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743200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Roboto"/>
              </a:rPr>
              <a:t>Feedback sources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90672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15214" bIns="115214"/>
          <a:lstStyle/>
          <a:p>
            <a:pPr algn="l"/>
            <a:r>
              <a:rPr sz="1450" b="1" i="0">
                <a:solidFill>
                  <a:srgbClr val="0F172A"/>
                </a:solidFill>
                <a:latin typeface="Roboto"/>
              </a:rPr>
              <a:t>NPS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E293B"/>
                </a:solidFill>
                <a:latin typeface="Open Sans"/>
              </a:rPr>
              <a:t>Recommendation / loyalty feedback</a:t>
            </a:r>
          </a:p>
          <a:p>
            <a:pPr algn="l">
              <a:lnSpc>
                <a:spcPct val="108000"/>
              </a:lnSpc>
              <a:spcBef>
                <a:spcPts val="400"/>
              </a:spcBef>
            </a:pPr>
            <a:r>
              <a:rPr sz="1100" b="0" i="0">
                <a:solidFill>
                  <a:srgbClr val="475569"/>
                </a:solidFill>
                <a:latin typeface="Open Sans"/>
              </a:rPr>
              <a:t>Measures likelihood to recommend on a 0–10 scale, indicating overall customer loyalty and advocacy.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90872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15214" bIns="115214"/>
          <a:lstStyle/>
          <a:p>
            <a:pPr algn="l"/>
            <a:r>
              <a:rPr sz="1450" b="1" i="0">
                <a:solidFill>
                  <a:srgbClr val="0F172A"/>
                </a:solidFill>
                <a:latin typeface="Roboto"/>
              </a:rPr>
              <a:t>CSAT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E293B"/>
                </a:solidFill>
                <a:latin typeface="Open Sans"/>
              </a:rPr>
              <a:t>Customer satisfaction feedback</a:t>
            </a:r>
          </a:p>
          <a:p>
            <a:pPr algn="l">
              <a:lnSpc>
                <a:spcPct val="108000"/>
              </a:lnSpc>
              <a:spcBef>
                <a:spcPts val="400"/>
              </a:spcBef>
            </a:pPr>
            <a:r>
              <a:rPr sz="1100" b="0" i="0">
                <a:solidFill>
                  <a:srgbClr val="475569"/>
                </a:solidFill>
                <a:latin typeface="Open Sans"/>
              </a:rPr>
              <a:t>Measures satisfaction with a specific experience on a 1–5 scale, helping identify how well the customer’s expectations were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743200"/>
            <a:ext cx="734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Roboto"/>
              </a:rPr>
              <a:t>Test dataset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090672"/>
            <a:ext cx="2357018" cy="960120"/>
          </a:xfrm>
          <a:prstGeom prst="roundRect">
            <a:avLst>
              <a:gd name="adj" fmla="val 8000"/>
            </a:avLst>
          </a:prstGeom>
          <a:solidFill>
            <a:srgbClr val="E7F8F4"/>
          </a:solidFill>
          <a:ln w="952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15214" bIns="115214"/>
          <a:lstStyle/>
          <a:p>
            <a:pPr algn="ctr"/>
            <a:r>
              <a:rPr sz="1100" b="1" i="0">
                <a:solidFill>
                  <a:srgbClr val="0F5C56"/>
                </a:solidFill>
                <a:latin typeface="Roboto"/>
              </a:rPr>
              <a:t>Several hundred feedback records across multiple weeks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83298" y="3090672"/>
            <a:ext cx="2357018" cy="960120"/>
          </a:xfrm>
          <a:prstGeom prst="roundRect">
            <a:avLst>
              <a:gd name="adj" fmla="val 8000"/>
            </a:avLst>
          </a:prstGeom>
          <a:solidFill>
            <a:srgbClr val="E7F8F4"/>
          </a:solidFill>
          <a:ln w="952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15214" bIns="115214"/>
          <a:lstStyle/>
          <a:p>
            <a:pPr algn="ctr"/>
            <a:r>
              <a:rPr sz="1100" b="1" i="0">
                <a:solidFill>
                  <a:srgbClr val="0F5C56"/>
                </a:solidFill>
                <a:latin typeface="Roboto"/>
              </a:rPr>
              <a:t>NPS + CSAT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77476" y="3090672"/>
            <a:ext cx="2357018" cy="960120"/>
          </a:xfrm>
          <a:prstGeom prst="roundRect">
            <a:avLst>
              <a:gd name="adj" fmla="val 8000"/>
            </a:avLst>
          </a:prstGeom>
          <a:solidFill>
            <a:srgbClr val="E7F8F4"/>
          </a:solidFill>
          <a:ln w="952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15214" bIns="115214"/>
          <a:lstStyle/>
          <a:p>
            <a:pPr algn="ctr"/>
            <a:r>
              <a:rPr sz="1100" b="1" i="0">
                <a:solidFill>
                  <a:srgbClr val="0F5C56"/>
                </a:solidFill>
                <a:latin typeface="Roboto"/>
              </a:rPr>
              <a:t>Positive · Neutral ·
Negative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306824"/>
            <a:ext cx="734537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F172A"/>
                </a:solidFill>
                <a:latin typeface="Roboto"/>
              </a:rPr>
              <a:t>Key CX themes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4636008"/>
            <a:ext cx="2357018" cy="457200"/>
          </a:xfrm>
          <a:prstGeom prst="roundRect">
            <a:avLst>
              <a:gd name="adj" fmla="val 25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50" b="1" i="0">
                <a:solidFill>
                  <a:srgbClr val="2E2A6E"/>
                </a:solidFill>
                <a:latin typeface="Open Sans"/>
              </a:rPr>
              <a:t>Delivery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83298" y="4636008"/>
            <a:ext cx="2357018" cy="457200"/>
          </a:xfrm>
          <a:prstGeom prst="roundRect">
            <a:avLst>
              <a:gd name="adj" fmla="val 25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50" b="1" i="0">
                <a:solidFill>
                  <a:srgbClr val="2E2A6E"/>
                </a:solidFill>
                <a:latin typeface="Open Sans"/>
              </a:rPr>
              <a:t>Product quality &amp; assembly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77476" y="4636008"/>
            <a:ext cx="2357018" cy="457200"/>
          </a:xfrm>
          <a:prstGeom prst="roundRect">
            <a:avLst>
              <a:gd name="adj" fmla="val 25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50" b="1" i="0">
                <a:solidFill>
                  <a:srgbClr val="2E2A6E"/>
                </a:solidFill>
                <a:latin typeface="Open Sans"/>
              </a:rPr>
              <a:t>Returns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5230368"/>
            <a:ext cx="2357018" cy="457200"/>
          </a:xfrm>
          <a:prstGeom prst="roundRect">
            <a:avLst>
              <a:gd name="adj" fmla="val 25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50" b="1" i="0">
                <a:solidFill>
                  <a:srgbClr val="2E2A6E"/>
                </a:solidFill>
                <a:latin typeface="Open Sans"/>
              </a:rPr>
              <a:t>Website experience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83298" y="5230368"/>
            <a:ext cx="2357018" cy="457200"/>
          </a:xfrm>
          <a:prstGeom prst="roundRect">
            <a:avLst>
              <a:gd name="adj" fmla="val 25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50" b="1" i="0">
                <a:solidFill>
                  <a:srgbClr val="2E2A6E"/>
                </a:solidFill>
                <a:latin typeface="Open Sans"/>
              </a:rPr>
              <a:t>Payment / billing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77476" y="5230368"/>
            <a:ext cx="2357018" cy="457200"/>
          </a:xfrm>
          <a:prstGeom prst="roundRect">
            <a:avLst>
              <a:gd name="adj" fmla="val 25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50" b="1" i="0">
                <a:solidFill>
                  <a:srgbClr val="2E2A6E"/>
                </a:solidFill>
                <a:latin typeface="Open Sans"/>
              </a:rPr>
              <a:t>Brand loyalty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5870448"/>
            <a:ext cx="73453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64748B"/>
                </a:solidFill>
                <a:latin typeface="Open Sans"/>
              </a:rPr>
              <a:t>A controlled scenario for testing AI functionality — not production data.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56539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94A3B8"/>
                </a:solidFill>
                <a:latin typeface="Roboto"/>
              </a:rPr>
              <a:t>InsightCX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20095" y="656539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 spc="170">
                <a:solidFill>
                  <a:srgbClr val="0D9488"/>
                </a:solidFill>
                <a:latin typeface="Open Sans"/>
              </a:rPr>
              <a:t>INSIGHTCX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94944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172A"/>
                </a:solidFill>
                <a:latin typeface="Roboto"/>
              </a:rPr>
              <a:t>From customer voice to business insight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18488"/>
            <a:ext cx="1454287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030" b="1" i="0">
                <a:solidFill>
                  <a:srgbClr val="1E293B"/>
                </a:solidFill>
                <a:latin typeface="Roboto"/>
              </a:rPr>
              <a:t>Customer
Feedback</a:t>
            </a:r>
          </a:p>
        </p:txBody>
      </p:sp>
      <p:sp>
        <p:nvSpPr>
          <p:cNvPr id="5" name="Chevron 4"/>
          <p:cNvSpPr/>
          <p:nvPr/>
        </p:nvSpPr>
        <p:spPr>
          <a:xfrm>
            <a:off x="1911487" y="1931212"/>
            <a:ext cx="182880" cy="243230"/>
          </a:xfrm>
          <a:prstGeom prst="chevron">
            <a:avLst/>
          </a:prstGeom>
          <a:solidFill>
            <a:srgbClr val="0F5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094367" y="1618488"/>
            <a:ext cx="1454287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030" b="1" i="0">
                <a:solidFill>
                  <a:srgbClr val="1E293B"/>
                </a:solidFill>
                <a:latin typeface="Roboto"/>
              </a:rPr>
              <a:t>CSV
Import</a:t>
            </a:r>
          </a:p>
        </p:txBody>
      </p:sp>
      <p:sp>
        <p:nvSpPr>
          <p:cNvPr id="7" name="Chevron 6"/>
          <p:cNvSpPr/>
          <p:nvPr/>
        </p:nvSpPr>
        <p:spPr>
          <a:xfrm>
            <a:off x="3548655" y="1931212"/>
            <a:ext cx="182880" cy="243230"/>
          </a:xfrm>
          <a:prstGeom prst="chevron">
            <a:avLst/>
          </a:prstGeom>
          <a:solidFill>
            <a:srgbClr val="0F5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31535" y="1618488"/>
            <a:ext cx="1454287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030" b="1" i="0">
                <a:solidFill>
                  <a:srgbClr val="1E293B"/>
                </a:solidFill>
                <a:latin typeface="Roboto"/>
              </a:rPr>
              <a:t>Feedback
Data</a:t>
            </a:r>
          </a:p>
        </p:txBody>
      </p:sp>
      <p:sp>
        <p:nvSpPr>
          <p:cNvPr id="9" name="Chevron 8"/>
          <p:cNvSpPr/>
          <p:nvPr/>
        </p:nvSpPr>
        <p:spPr>
          <a:xfrm>
            <a:off x="5185823" y="1931212"/>
            <a:ext cx="182880" cy="243230"/>
          </a:xfrm>
          <a:prstGeom prst="chevron">
            <a:avLst/>
          </a:prstGeom>
          <a:solidFill>
            <a:srgbClr val="0F5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368703" y="1618488"/>
            <a:ext cx="1454287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030" b="1" i="0">
                <a:solidFill>
                  <a:srgbClr val="1E293B"/>
                </a:solidFill>
                <a:latin typeface="Roboto"/>
              </a:rPr>
              <a:t>LLM
Analysis</a:t>
            </a:r>
          </a:p>
        </p:txBody>
      </p:sp>
      <p:sp>
        <p:nvSpPr>
          <p:cNvPr id="11" name="Chevron 10"/>
          <p:cNvSpPr/>
          <p:nvPr/>
        </p:nvSpPr>
        <p:spPr>
          <a:xfrm>
            <a:off x="6822991" y="1931212"/>
            <a:ext cx="182880" cy="243230"/>
          </a:xfrm>
          <a:prstGeom prst="chevron">
            <a:avLst/>
          </a:prstGeom>
          <a:solidFill>
            <a:srgbClr val="0F5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05871" y="1618488"/>
            <a:ext cx="1454287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030" b="1" i="0">
                <a:solidFill>
                  <a:srgbClr val="1E293B"/>
                </a:solidFill>
                <a:latin typeface="Roboto"/>
              </a:rPr>
              <a:t>Structured
CX Data</a:t>
            </a:r>
          </a:p>
        </p:txBody>
      </p:sp>
      <p:sp>
        <p:nvSpPr>
          <p:cNvPr id="13" name="Chevron 12"/>
          <p:cNvSpPr/>
          <p:nvPr/>
        </p:nvSpPr>
        <p:spPr>
          <a:xfrm>
            <a:off x="8460159" y="1931212"/>
            <a:ext cx="182880" cy="243230"/>
          </a:xfrm>
          <a:prstGeom prst="chevron">
            <a:avLst/>
          </a:prstGeom>
          <a:solidFill>
            <a:srgbClr val="0F5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643039" y="1618488"/>
            <a:ext cx="1454287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030" b="1" i="0">
                <a:solidFill>
                  <a:srgbClr val="1E293B"/>
                </a:solidFill>
                <a:latin typeface="Roboto"/>
              </a:rPr>
              <a:t>Dashboard +
Exec Insights</a:t>
            </a:r>
          </a:p>
        </p:txBody>
      </p:sp>
      <p:sp>
        <p:nvSpPr>
          <p:cNvPr id="15" name="Chevron 14"/>
          <p:cNvSpPr/>
          <p:nvPr/>
        </p:nvSpPr>
        <p:spPr>
          <a:xfrm>
            <a:off x="10097327" y="1931212"/>
            <a:ext cx="182880" cy="243230"/>
          </a:xfrm>
          <a:prstGeom prst="chevron">
            <a:avLst/>
          </a:prstGeom>
          <a:solidFill>
            <a:srgbClr val="0F5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280207" y="1618488"/>
            <a:ext cx="1454287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030" b="1" i="0">
                <a:solidFill>
                  <a:srgbClr val="1E293B"/>
                </a:solidFill>
                <a:latin typeface="Roboto"/>
              </a:rPr>
              <a:t>Business
Decisions</a:t>
            </a:r>
          </a:p>
        </p:txBody>
      </p:sp>
      <p:sp>
        <p:nvSpPr>
          <p:cNvPr id="17" name="Chevron 16"/>
          <p:cNvSpPr/>
          <p:nvPr/>
        </p:nvSpPr>
        <p:spPr>
          <a:xfrm rot="5400000">
            <a:off x="5958687" y="2473451"/>
            <a:ext cx="274320" cy="411480"/>
          </a:xfrm>
          <a:prstGeom prst="chevron">
            <a:avLst/>
          </a:prstGeom>
          <a:solidFill>
            <a:srgbClr val="0F5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52647" y="2871215"/>
            <a:ext cx="5486400" cy="777240"/>
          </a:xfrm>
          <a:prstGeom prst="roundRect">
            <a:avLst>
              <a:gd name="adj" fmla="val 8000"/>
            </a:avLst>
          </a:prstGeom>
          <a:solidFill>
            <a:srgbClr val="E7F8F4"/>
          </a:solidFill>
          <a:ln w="952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15214" bIns="115214"/>
          <a:lstStyle/>
          <a:p>
            <a:pPr algn="ctr"/>
            <a:r>
              <a:rPr sz="1500" b="1" i="0">
                <a:solidFill>
                  <a:srgbClr val="0F5C56"/>
                </a:solidFill>
                <a:latin typeface="Roboto"/>
              </a:rPr>
              <a:t>AI Evaluation</a:t>
            </a:r>
          </a:p>
          <a:p>
            <a:pPr algn="ctr">
              <a:lnSpc>
                <a:spcPct val="108000"/>
              </a:lnSpc>
              <a:spcBef>
                <a:spcPts val="400"/>
              </a:spcBef>
            </a:pPr>
            <a:r>
              <a:rPr sz="1150" b="0" i="0">
                <a:solidFill>
                  <a:srgbClr val="475569"/>
                </a:solidFill>
                <a:latin typeface="Open Sans"/>
              </a:rPr>
              <a:t>Model quality / consistency · latency · tokens · cost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941063"/>
            <a:ext cx="3576218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15214" bIns="115214"/>
          <a:lstStyle/>
          <a:p>
            <a:pPr algn="l"/>
            <a:r>
              <a:rPr sz="1350" b="1" i="0">
                <a:solidFill>
                  <a:srgbClr val="0F172A"/>
                </a:solidFill>
                <a:latin typeface="Roboto"/>
              </a:rPr>
              <a:t>Ingest</a:t>
            </a:r>
          </a:p>
          <a:p>
            <a:pPr algn="l">
              <a:lnSpc>
                <a:spcPct val="108000"/>
              </a:lnSpc>
              <a:spcBef>
                <a:spcPts val="400"/>
              </a:spcBef>
            </a:pPr>
            <a:r>
              <a:rPr sz="1050" b="0" i="0">
                <a:solidFill>
                  <a:srgbClr val="475569"/>
                </a:solidFill>
                <a:latin typeface="Open Sans"/>
              </a:rPr>
              <a:t>Customer feedback flows in via CSV import.</a:t>
            </a:r>
          </a:p>
        </p:txBody>
      </p:sp>
      <p:sp>
        <p:nvSpPr>
          <p:cNvPr id="20" name="Oval 19"/>
          <p:cNvSpPr/>
          <p:nvPr/>
        </p:nvSpPr>
        <p:spPr>
          <a:xfrm>
            <a:off x="585216" y="3794759"/>
            <a:ext cx="292608" cy="29260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7738" y="3941063"/>
            <a:ext cx="3576218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15214" bIns="115214"/>
          <a:lstStyle/>
          <a:p>
            <a:pPr algn="l"/>
            <a:r>
              <a:rPr sz="1350" b="1" i="0">
                <a:solidFill>
                  <a:srgbClr val="0F172A"/>
                </a:solidFill>
                <a:latin typeface="Roboto"/>
              </a:rPr>
              <a:t>Analyze</a:t>
            </a:r>
          </a:p>
          <a:p>
            <a:pPr algn="l">
              <a:lnSpc>
                <a:spcPct val="108000"/>
              </a:lnSpc>
              <a:spcBef>
                <a:spcPts val="400"/>
              </a:spcBef>
            </a:pPr>
            <a:r>
              <a:rPr sz="1050" b="0" i="0">
                <a:solidFill>
                  <a:srgbClr val="475569"/>
                </a:solidFill>
                <a:latin typeface="Open Sans"/>
              </a:rPr>
              <a:t>An LLM converts each comment into structured CX attributes.</a:t>
            </a:r>
          </a:p>
        </p:txBody>
      </p:sp>
      <p:sp>
        <p:nvSpPr>
          <p:cNvPr id="22" name="Oval 21"/>
          <p:cNvSpPr/>
          <p:nvPr/>
        </p:nvSpPr>
        <p:spPr>
          <a:xfrm>
            <a:off x="4435754" y="3794759"/>
            <a:ext cx="292608" cy="29260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58276" y="3941063"/>
            <a:ext cx="3576218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15214" bIns="115214"/>
          <a:lstStyle/>
          <a:p>
            <a:pPr algn="l"/>
            <a:r>
              <a:rPr sz="1350" b="1" i="0">
                <a:solidFill>
                  <a:srgbClr val="0F172A"/>
                </a:solidFill>
                <a:latin typeface="Roboto"/>
              </a:rPr>
              <a:t>Aggregate</a:t>
            </a:r>
          </a:p>
          <a:p>
            <a:pPr algn="l">
              <a:lnSpc>
                <a:spcPct val="108000"/>
              </a:lnSpc>
              <a:spcBef>
                <a:spcPts val="400"/>
              </a:spcBef>
            </a:pPr>
            <a:r>
              <a:rPr sz="1050" b="0" i="0">
                <a:solidFill>
                  <a:srgbClr val="475569"/>
                </a:solidFill>
                <a:latin typeface="Open Sans"/>
              </a:rPr>
              <a:t>Results roll up into dashboards and executive-level insights.</a:t>
            </a:r>
          </a:p>
        </p:txBody>
      </p:sp>
      <p:sp>
        <p:nvSpPr>
          <p:cNvPr id="24" name="Oval 23"/>
          <p:cNvSpPr/>
          <p:nvPr/>
        </p:nvSpPr>
        <p:spPr>
          <a:xfrm>
            <a:off x="8286292" y="3794759"/>
            <a:ext cx="292608" cy="29260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6539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94A3B8"/>
                </a:solidFill>
                <a:latin typeface="Roboto"/>
              </a:rPr>
              <a:t>InsightCX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56539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 spc="170">
                <a:solidFill>
                  <a:srgbClr val="0D9488"/>
                </a:solidFill>
                <a:latin typeface="Open Sans"/>
              </a:rPr>
              <a:t>LLM CAPABILITY 1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94944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172A"/>
                </a:solidFill>
                <a:latin typeface="Roboto"/>
              </a:rPr>
              <a:t>Turning customer language into structured CX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1828800" cy="320040"/>
          </a:xfrm>
          <a:prstGeom prst="roundRect">
            <a:avLst>
              <a:gd name="adj" fmla="val 5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50" b="1" i="0">
                <a:solidFill>
                  <a:srgbClr val="2E2A6E"/>
                </a:solidFill>
                <a:latin typeface="Open Sans"/>
              </a:rPr>
              <a:t>NATURAL LANGUAGE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38528"/>
            <a:ext cx="507492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92024" bIns="192024"/>
          <a:lstStyle/>
          <a:p>
            <a:pPr algn="l"/>
            <a:r>
              <a:rPr sz="1350" b="1" i="0">
                <a:solidFill>
                  <a:srgbClr val="1E293B"/>
                </a:solidFill>
                <a:latin typeface="Roboto"/>
              </a:rPr>
              <a:t>“The area rug showed up two days late with no explanation. Customer service was helpful when I asked about the delay, but I would’ve liked to know what was going on without having to contact them.”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950207"/>
            <a:ext cx="5074920" cy="1051560"/>
          </a:xfrm>
          <a:prstGeom prst="roundRect">
            <a:avLst>
              <a:gd name="adj" fmla="val 10000"/>
            </a:avLst>
          </a:prstGeom>
          <a:solidFill>
            <a:srgbClr val="2E2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wrap="square"/>
          <a:lstStyle/>
          <a:p>
            <a:pPr algn="ctr"/>
            <a:r>
              <a:rPr sz="1350" b="1" i="1">
                <a:solidFill>
                  <a:srgbClr val="FFFFFF"/>
                </a:solidFill>
                <a:latin typeface="Roboto"/>
              </a:rPr>
              <a:t>Once the LLM output is structured, it stops being just text and becomes data the application can work with.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202935"/>
            <a:ext cx="5074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1">
                <a:solidFill>
                  <a:srgbClr val="475569"/>
                </a:solidFill>
                <a:latin typeface="Open Sans"/>
              </a:rPr>
              <a:t>Customers describe the same experience in many different ways — the application needs consistent categories for analysis.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3218688"/>
            <a:ext cx="1417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0F5C56"/>
                </a:solidFill>
                <a:latin typeface="Open Sans"/>
              </a:rPr>
              <a:t>Natural</a:t>
            </a:r>
          </a:p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0F5C56"/>
                </a:solidFill>
                <a:latin typeface="Open Sans"/>
              </a:rPr>
              <a:t>language →</a:t>
            </a:r>
          </a:p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0F5C56"/>
                </a:solidFill>
                <a:latin typeface="Open Sans"/>
              </a:rPr>
              <a:t>structured</a:t>
            </a:r>
          </a:p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0F5C56"/>
                </a:solidFill>
                <a:latin typeface="Open Sans"/>
              </a:rPr>
              <a:t>data</a:t>
            </a:r>
          </a:p>
        </p:txBody>
      </p:sp>
      <p:sp>
        <p:nvSpPr>
          <p:cNvPr id="9" name="Chevron 8"/>
          <p:cNvSpPr/>
          <p:nvPr/>
        </p:nvSpPr>
        <p:spPr>
          <a:xfrm>
            <a:off x="5669280" y="3813048"/>
            <a:ext cx="685800" cy="502920"/>
          </a:xfrm>
          <a:prstGeom prst="chevron">
            <a:avLst/>
          </a:prstGeom>
          <a:solidFill>
            <a:srgbClr val="0F5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75120" y="1481328"/>
            <a:ext cx="2194560" cy="320040"/>
          </a:xfrm>
          <a:prstGeom prst="roundRect">
            <a:avLst>
              <a:gd name="adj" fmla="val 50000"/>
            </a:avLst>
          </a:prstGeom>
          <a:solidFill>
            <a:srgbClr val="E7F8F4"/>
          </a:solidFill>
          <a:ln w="952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50" b="1" i="0">
                <a:solidFill>
                  <a:srgbClr val="0F5C56"/>
                </a:solidFill>
                <a:latin typeface="Open Sans"/>
              </a:rPr>
              <a:t>STRUCTURED OUTPUT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938528"/>
            <a:ext cx="5059375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eedback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082" y="2066544"/>
            <a:ext cx="3245450" cy="390448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0" y="6153912"/>
            <a:ext cx="5059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1">
                <a:solidFill>
                  <a:srgbClr val="64748B"/>
                </a:solidFill>
                <a:latin typeface="Open Sans"/>
              </a:rPr>
              <a:t>Feedback Explorer — AI Assessment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6539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94A3B8"/>
                </a:solidFill>
                <a:latin typeface="Roboto"/>
              </a:rPr>
              <a:t>InsightCX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56539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 spc="170">
                <a:solidFill>
                  <a:srgbClr val="0D9488"/>
                </a:solidFill>
                <a:latin typeface="Open Sans"/>
              </a:rPr>
              <a:t>LLM CAPABILITY 2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94944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172A"/>
                </a:solidFill>
                <a:latin typeface="Roboto"/>
              </a:rPr>
              <a:t>From individual comments to executive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25296"/>
            <a:ext cx="11277295" cy="270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475569"/>
                </a:solidFill>
                <a:latin typeface="Open Sans"/>
              </a:rPr>
              <a:t>Feature 1: what is this customer saying?    →    Feature 2: what does everything mean for the business?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15071"/>
          <a:ext cx="512064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Roboto"/>
                        </a:rPr>
                        <a:t>Feedback Analysis</a:t>
                      </a:r>
                    </a:p>
                  </a:txBody>
                  <a:tcPr marL="73152" marR="73152" marT="27432" marB="27432" anchor="ctr">
                    <a:solidFill>
                      <a:srgbClr val="2E2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Roboto"/>
                        </a:rPr>
                        <a:t>Executive Insights</a:t>
                      </a:r>
                    </a:p>
                  </a:txBody>
                  <a:tcPr marL="73152" marR="73152" marT="27432" marB="27432" anchor="ctr">
                    <a:solidFill>
                      <a:srgbClr val="0F5C5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E293B"/>
                          </a:solidFill>
                          <a:latin typeface="Open Sans"/>
                        </a:rPr>
                        <a:t>Individual comment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Open Sans"/>
                        </a:rPr>
                        <a:t>Aggregated feedback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E293B"/>
                          </a:solidFill>
                          <a:latin typeface="Open Sans"/>
                        </a:rPr>
                        <a:t>What happened?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Open Sans"/>
                        </a:rPr>
                        <a:t>What does it mean?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E293B"/>
                          </a:solidFill>
                          <a:latin typeface="Open Sans"/>
                        </a:rPr>
                        <a:t>Sentiment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Open Sans"/>
                        </a:rPr>
                        <a:t>Customer health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E293B"/>
                          </a:solidFill>
                          <a:latin typeface="Open Sans"/>
                        </a:rPr>
                        <a:t>Themes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Open Sans"/>
                        </a:rPr>
                        <a:t>Business impact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E293B"/>
                          </a:solidFill>
                          <a:latin typeface="Open Sans"/>
                        </a:rPr>
                        <a:t>Priority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Open Sans"/>
                        </a:rPr>
                        <a:t>Leadership priorities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E293B"/>
                          </a:solidFill>
                          <a:latin typeface="Open Sans"/>
                        </a:rPr>
                        <a:t>Summary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Open Sans"/>
                        </a:rPr>
                        <a:t>Recommended actions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97879" y="1715071"/>
            <a:ext cx="5836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F172A"/>
                </a:solidFill>
                <a:latin typeface="Roboto"/>
              </a:rPr>
              <a:t>Executive Insight — Leadership Priority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79" y="2044255"/>
            <a:ext cx="5836615" cy="15938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eadership_prior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896" y="2172271"/>
            <a:ext cx="5580583" cy="133781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4211383"/>
            <a:ext cx="2613583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1" i="0">
                <a:solidFill>
                  <a:srgbClr val="1E293B"/>
                </a:solidFill>
                <a:latin typeface="Roboto"/>
              </a:rPr>
              <a:t>Hundreds of
customer comments</a:t>
            </a:r>
          </a:p>
        </p:txBody>
      </p:sp>
      <p:sp>
        <p:nvSpPr>
          <p:cNvPr id="10" name="Chevron 9"/>
          <p:cNvSpPr/>
          <p:nvPr/>
        </p:nvSpPr>
        <p:spPr>
          <a:xfrm>
            <a:off x="3070783" y="4507649"/>
            <a:ext cx="274320" cy="230428"/>
          </a:xfrm>
          <a:prstGeom prst="chevron">
            <a:avLst/>
          </a:prstGeom>
          <a:solidFill>
            <a:srgbClr val="0F5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45103" y="4211383"/>
            <a:ext cx="2613583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1" i="0">
                <a:solidFill>
                  <a:srgbClr val="1E293B"/>
                </a:solidFill>
                <a:latin typeface="Roboto"/>
              </a:rPr>
              <a:t>Patterns across
feedback</a:t>
            </a:r>
          </a:p>
        </p:txBody>
      </p:sp>
      <p:sp>
        <p:nvSpPr>
          <p:cNvPr id="12" name="Chevron 11"/>
          <p:cNvSpPr/>
          <p:nvPr/>
        </p:nvSpPr>
        <p:spPr>
          <a:xfrm>
            <a:off x="5958687" y="4507649"/>
            <a:ext cx="274320" cy="230428"/>
          </a:xfrm>
          <a:prstGeom prst="chevron">
            <a:avLst/>
          </a:prstGeom>
          <a:solidFill>
            <a:srgbClr val="0F5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33007" y="4211383"/>
            <a:ext cx="2613583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1" i="0">
                <a:solidFill>
                  <a:srgbClr val="1E293B"/>
                </a:solidFill>
                <a:latin typeface="Roboto"/>
              </a:rPr>
              <a:t>Business
interpretation</a:t>
            </a:r>
          </a:p>
        </p:txBody>
      </p:sp>
      <p:sp>
        <p:nvSpPr>
          <p:cNvPr id="14" name="Chevron 13"/>
          <p:cNvSpPr/>
          <p:nvPr/>
        </p:nvSpPr>
        <p:spPr>
          <a:xfrm>
            <a:off x="8846591" y="4507649"/>
            <a:ext cx="274320" cy="230428"/>
          </a:xfrm>
          <a:prstGeom prst="chevron">
            <a:avLst/>
          </a:prstGeom>
          <a:solidFill>
            <a:srgbClr val="0F5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20911" y="4211383"/>
            <a:ext cx="2613583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1" i="0">
                <a:solidFill>
                  <a:srgbClr val="1E293B"/>
                </a:solidFill>
                <a:latin typeface="Roboto"/>
              </a:rPr>
              <a:t>Recommended
action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290375"/>
            <a:ext cx="5501487" cy="868680"/>
          </a:xfrm>
          <a:prstGeom prst="roundRect">
            <a:avLst>
              <a:gd name="adj" fmla="val 8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15214" bIns="115214"/>
          <a:lstStyle/>
          <a:p>
            <a:pPr algn="ctr"/>
            <a:r>
              <a:rPr sz="1200" b="1" i="0">
                <a:solidFill>
                  <a:srgbClr val="2E2A6E"/>
                </a:solidFill>
                <a:latin typeface="Roboto"/>
              </a:rPr>
              <a:t>“Delivery reliability is emerging as a significant driver of customer dissatisfaction.”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7" y="5290375"/>
            <a:ext cx="5501487" cy="868680"/>
          </a:xfrm>
          <a:prstGeom prst="roundRect">
            <a:avLst>
              <a:gd name="adj" fmla="val 8000"/>
            </a:avLst>
          </a:prstGeom>
          <a:solidFill>
            <a:srgbClr val="E7F8F4"/>
          </a:solidFill>
          <a:ln w="952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15214" bIns="115214"/>
          <a:lstStyle/>
          <a:p>
            <a:pPr algn="ctr"/>
            <a:r>
              <a:rPr sz="1200" b="1" i="0">
                <a:solidFill>
                  <a:srgbClr val="0F5C56"/>
                </a:solidFill>
                <a:latin typeface="Roboto"/>
              </a:rPr>
              <a:t>“Leadership priority: investigate delivery reliability and communication around delays.”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6539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94A3B8"/>
                </a:solidFill>
                <a:latin typeface="Roboto"/>
              </a:rPr>
              <a:t>InsightCX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56539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 spc="170">
                <a:solidFill>
                  <a:srgbClr val="0D9488"/>
                </a:solidFill>
                <a:latin typeface="Open Sans"/>
              </a:rPr>
              <a:t>THE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94944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172A"/>
                </a:solidFill>
                <a:latin typeface="Roboto"/>
              </a:rPr>
              <a:t>Making customer health visible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997556"/>
            <a:ext cx="292608" cy="29260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7" y="1481328"/>
            <a:ext cx="6035040" cy="132506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key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5742431" cy="10324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7" y="2861257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64748B"/>
                </a:solidFill>
                <a:latin typeface="Open Sans"/>
              </a:rPr>
              <a:t>Customer health, NPS &amp; CSAT at a glance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3514450"/>
            <a:ext cx="292608" cy="292608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7" y="3190441"/>
            <a:ext cx="3291840" cy="9406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entiment_metr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1" y="3336745"/>
            <a:ext cx="2999232" cy="64801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1247" y="4185931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64748B"/>
                </a:solidFill>
                <a:latin typeface="Open Sans"/>
              </a:rPr>
              <a:t>Sentiment breakdown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5100331"/>
            <a:ext cx="292608" cy="29260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7" y="4515115"/>
            <a:ext cx="3667254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in_driver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1" y="4661419"/>
            <a:ext cx="3374646" cy="117043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782822" y="4515115"/>
            <a:ext cx="3641008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main_driver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126" y="4661419"/>
            <a:ext cx="3348400" cy="1170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41247" y="6033019"/>
            <a:ext cx="75825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64748B"/>
                </a:solidFill>
                <a:latin typeface="Open Sans"/>
              </a:rPr>
              <a:t>Two of several business drivers surfaced from structured feedback — ranked by impact and evidence-backed.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6539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94A3B8"/>
                </a:solidFill>
                <a:latin typeface="Roboto"/>
              </a:rPr>
              <a:t>InsightCX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56539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 spc="170">
                <a:solidFill>
                  <a:srgbClr val="0D9488"/>
                </a:solidFill>
                <a:latin typeface="Open Sans"/>
              </a:rPr>
              <a:t>FROM AI OUTPUT TO BUSINESS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94944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172A"/>
                </a:solidFill>
                <a:latin typeface="Roboto"/>
              </a:rPr>
              <a:t>From customer voice to 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72768"/>
            <a:ext cx="2065263" cy="868680"/>
          </a:xfrm>
          <a:prstGeom prst="roundRect">
            <a:avLst>
              <a:gd name="adj" fmla="val 1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1" i="0">
                <a:solidFill>
                  <a:srgbClr val="2E2A6E"/>
                </a:solidFill>
                <a:latin typeface="Roboto"/>
              </a:rPr>
              <a:t>Customer
voice</a:t>
            </a:r>
          </a:p>
        </p:txBody>
      </p:sp>
      <p:sp>
        <p:nvSpPr>
          <p:cNvPr id="5" name="Chevron 4"/>
          <p:cNvSpPr/>
          <p:nvPr/>
        </p:nvSpPr>
        <p:spPr>
          <a:xfrm>
            <a:off x="2522463" y="1885492"/>
            <a:ext cx="237744" cy="243230"/>
          </a:xfrm>
          <a:prstGeom prst="chevron">
            <a:avLst/>
          </a:prstGeom>
          <a:solidFill>
            <a:srgbClr val="2E2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60207" y="1572768"/>
            <a:ext cx="2065263" cy="868680"/>
          </a:xfrm>
          <a:prstGeom prst="roundRect">
            <a:avLst>
              <a:gd name="adj" fmla="val 1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1" i="0">
                <a:solidFill>
                  <a:srgbClr val="2E2A6E"/>
                </a:solidFill>
                <a:latin typeface="Roboto"/>
              </a:rPr>
              <a:t>Structured AI
analysis</a:t>
            </a:r>
          </a:p>
        </p:txBody>
      </p:sp>
      <p:sp>
        <p:nvSpPr>
          <p:cNvPr id="7" name="Chevron 6"/>
          <p:cNvSpPr/>
          <p:nvPr/>
        </p:nvSpPr>
        <p:spPr>
          <a:xfrm>
            <a:off x="4825471" y="1885492"/>
            <a:ext cx="237744" cy="243230"/>
          </a:xfrm>
          <a:prstGeom prst="chevron">
            <a:avLst/>
          </a:prstGeom>
          <a:solidFill>
            <a:srgbClr val="2E2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63215" y="1572768"/>
            <a:ext cx="2065263" cy="868680"/>
          </a:xfrm>
          <a:prstGeom prst="roundRect">
            <a:avLst>
              <a:gd name="adj" fmla="val 1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1" i="0">
                <a:solidFill>
                  <a:srgbClr val="2E2A6E"/>
                </a:solidFill>
                <a:latin typeface="Roboto"/>
              </a:rPr>
              <a:t>Aggregated
patterns</a:t>
            </a:r>
          </a:p>
        </p:txBody>
      </p:sp>
      <p:sp>
        <p:nvSpPr>
          <p:cNvPr id="9" name="Chevron 8"/>
          <p:cNvSpPr/>
          <p:nvPr/>
        </p:nvSpPr>
        <p:spPr>
          <a:xfrm>
            <a:off x="7128479" y="1885492"/>
            <a:ext cx="237744" cy="243230"/>
          </a:xfrm>
          <a:prstGeom prst="chevron">
            <a:avLst/>
          </a:prstGeom>
          <a:solidFill>
            <a:srgbClr val="2E2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66223" y="1572768"/>
            <a:ext cx="2065263" cy="868680"/>
          </a:xfrm>
          <a:prstGeom prst="roundRect">
            <a:avLst>
              <a:gd name="adj" fmla="val 1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1" i="0">
                <a:solidFill>
                  <a:srgbClr val="2E2A6E"/>
                </a:solidFill>
                <a:latin typeface="Roboto"/>
              </a:rPr>
              <a:t>Business
interpretation</a:t>
            </a:r>
          </a:p>
        </p:txBody>
      </p:sp>
      <p:sp>
        <p:nvSpPr>
          <p:cNvPr id="11" name="Chevron 10"/>
          <p:cNvSpPr/>
          <p:nvPr/>
        </p:nvSpPr>
        <p:spPr>
          <a:xfrm>
            <a:off x="9431487" y="1885492"/>
            <a:ext cx="237744" cy="243230"/>
          </a:xfrm>
          <a:prstGeom prst="chevron">
            <a:avLst/>
          </a:prstGeom>
          <a:solidFill>
            <a:srgbClr val="2E2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69231" y="1572768"/>
            <a:ext cx="2065263" cy="868680"/>
          </a:xfrm>
          <a:prstGeom prst="roundRect">
            <a:avLst>
              <a:gd name="adj" fmla="val 1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1" i="0">
                <a:solidFill>
                  <a:srgbClr val="2E2A6E"/>
                </a:solidFill>
                <a:latin typeface="Roboto"/>
              </a:rPr>
              <a:t>Recommended
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514600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1">
                <a:solidFill>
                  <a:srgbClr val="64748B"/>
                </a:solidFill>
                <a:latin typeface="Open Sans"/>
              </a:rPr>
              <a:t>For example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34640"/>
            <a:ext cx="2613583" cy="960120"/>
          </a:xfrm>
          <a:prstGeom prst="roundRect">
            <a:avLst>
              <a:gd name="adj" fmla="val 10000"/>
            </a:avLst>
          </a:prstGeom>
          <a:solidFill>
            <a:srgbClr val="E7F8F4"/>
          </a:solidFill>
          <a:ln w="952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000" b="0" i="0">
                <a:solidFill>
                  <a:srgbClr val="0F5C56"/>
                </a:solidFill>
                <a:latin typeface="Roboto"/>
              </a:rPr>
              <a:t>Delivery appears in a
large share of
negative feedback</a:t>
            </a:r>
          </a:p>
        </p:txBody>
      </p:sp>
      <p:sp>
        <p:nvSpPr>
          <p:cNvPr id="15" name="Chevron 14"/>
          <p:cNvSpPr/>
          <p:nvPr/>
        </p:nvSpPr>
        <p:spPr>
          <a:xfrm>
            <a:off x="3070783" y="3180283"/>
            <a:ext cx="274320" cy="268833"/>
          </a:xfrm>
          <a:prstGeom prst="chevron">
            <a:avLst/>
          </a:prstGeom>
          <a:solidFill>
            <a:srgbClr val="0F5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45103" y="2834640"/>
            <a:ext cx="2613583" cy="960120"/>
          </a:xfrm>
          <a:prstGeom prst="roundRect">
            <a:avLst>
              <a:gd name="adj" fmla="val 10000"/>
            </a:avLst>
          </a:prstGeom>
          <a:solidFill>
            <a:srgbClr val="E7F8F4"/>
          </a:solidFill>
          <a:ln w="952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000" b="0" i="0">
                <a:solidFill>
                  <a:srgbClr val="0F5C56"/>
                </a:solidFill>
                <a:latin typeface="Roboto"/>
              </a:rPr>
              <a:t>Delivery is
disproportionately
represented among detractors</a:t>
            </a:r>
          </a:p>
        </p:txBody>
      </p:sp>
      <p:sp>
        <p:nvSpPr>
          <p:cNvPr id="17" name="Chevron 16"/>
          <p:cNvSpPr/>
          <p:nvPr/>
        </p:nvSpPr>
        <p:spPr>
          <a:xfrm>
            <a:off x="5958687" y="3180283"/>
            <a:ext cx="274320" cy="268833"/>
          </a:xfrm>
          <a:prstGeom prst="chevron">
            <a:avLst/>
          </a:prstGeom>
          <a:solidFill>
            <a:srgbClr val="0F5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33007" y="2834640"/>
            <a:ext cx="2613583" cy="960120"/>
          </a:xfrm>
          <a:prstGeom prst="roundRect">
            <a:avLst>
              <a:gd name="adj" fmla="val 10000"/>
            </a:avLst>
          </a:prstGeom>
          <a:solidFill>
            <a:srgbClr val="E7F8F4"/>
          </a:solidFill>
          <a:ln w="952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000" b="0" i="0">
                <a:solidFill>
                  <a:srgbClr val="0F5C56"/>
                </a:solidFill>
                <a:latin typeface="Roboto"/>
              </a:rPr>
              <a:t>Delivery may be a
customer-health
driver</a:t>
            </a:r>
          </a:p>
        </p:txBody>
      </p:sp>
      <p:sp>
        <p:nvSpPr>
          <p:cNvPr id="19" name="Chevron 18"/>
          <p:cNvSpPr/>
          <p:nvPr/>
        </p:nvSpPr>
        <p:spPr>
          <a:xfrm>
            <a:off x="8846591" y="3180283"/>
            <a:ext cx="274320" cy="268833"/>
          </a:xfrm>
          <a:prstGeom prst="chevron">
            <a:avLst/>
          </a:prstGeom>
          <a:solidFill>
            <a:srgbClr val="0F5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20911" y="2834640"/>
            <a:ext cx="2613583" cy="960120"/>
          </a:xfrm>
          <a:prstGeom prst="roundRect">
            <a:avLst>
              <a:gd name="adj" fmla="val 10000"/>
            </a:avLst>
          </a:prstGeom>
          <a:solidFill>
            <a:srgbClr val="E7F8F4"/>
          </a:solidFill>
          <a:ln w="952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000" b="0" i="0">
                <a:solidFill>
                  <a:srgbClr val="0F5C56"/>
                </a:solidFill>
                <a:latin typeface="Roboto"/>
              </a:rPr>
              <a:t>Investigate carrier
performance and delivery
communication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114800"/>
            <a:ext cx="11277295" cy="822960"/>
          </a:xfrm>
          <a:prstGeom prst="roundRect">
            <a:avLst>
              <a:gd name="adj" fmla="val 12000"/>
            </a:avLst>
          </a:prstGeom>
          <a:solidFill>
            <a:srgbClr val="2E2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Roboto"/>
              </a:rPr>
              <a:t>InsightCX is intended to augment CX expertise, not replace 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6539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94A3B8"/>
                </a:solidFill>
                <a:latin typeface="Roboto"/>
              </a:rPr>
              <a:t>InsightCX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56539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Ope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 spc="170">
                <a:solidFill>
                  <a:srgbClr val="0D9488"/>
                </a:solidFill>
                <a:latin typeface="Open Sans"/>
              </a:rPr>
              <a:t>AI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94944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172A"/>
                </a:solidFill>
                <a:latin typeface="Roboto"/>
              </a:rPr>
              <a:t>Model performance isn't just about quality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27048"/>
            <a:ext cx="11277295" cy="411480"/>
          </a:xfrm>
          <a:prstGeom prst="roundRect">
            <a:avLst>
              <a:gd name="adj" fmla="val 50000"/>
            </a:avLst>
          </a:prstGeom>
          <a:solidFill>
            <a:srgbClr val="2E2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Roboto"/>
              </a:rPr>
              <a:t>25 feedback records · same task &amp; prompts · same dataset (v1)</a:t>
            </a:r>
          </a:p>
        </p:txBody>
      </p:sp>
      <p:sp>
        <p:nvSpPr>
          <p:cNvPr id="5" name="Chevron 4"/>
          <p:cNvSpPr/>
          <p:nvPr/>
        </p:nvSpPr>
        <p:spPr>
          <a:xfrm rot="5400000">
            <a:off x="6004407" y="1929384"/>
            <a:ext cx="182880" cy="329184"/>
          </a:xfrm>
          <a:prstGeom prst="chevron">
            <a:avLst/>
          </a:prstGeom>
          <a:solidFill>
            <a:srgbClr val="0F5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240280"/>
            <a:ext cx="3576218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15214" bIns="115214"/>
          <a:lstStyle/>
          <a:p>
            <a:pPr algn="ctr"/>
            <a:r>
              <a:rPr sz="1400" b="1" i="0">
                <a:solidFill>
                  <a:srgbClr val="0F172A"/>
                </a:solidFill>
                <a:latin typeface="Roboto"/>
              </a:rPr>
              <a:t>GPT-5-mini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7738" y="2240280"/>
            <a:ext cx="3576218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15214" bIns="115214"/>
          <a:lstStyle/>
          <a:p>
            <a:pPr algn="ctr"/>
            <a:r>
              <a:rPr sz="1400" b="1" i="0">
                <a:solidFill>
                  <a:srgbClr val="0F172A"/>
                </a:solidFill>
                <a:latin typeface="Roboto"/>
              </a:rPr>
              <a:t>GPT-4.1-mini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58276" y="2240280"/>
            <a:ext cx="3576218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15214" bIns="115214"/>
          <a:lstStyle/>
          <a:p>
            <a:pPr algn="ctr"/>
            <a:r>
              <a:rPr sz="1400" b="1" i="0">
                <a:solidFill>
                  <a:srgbClr val="0F172A"/>
                </a:solidFill>
                <a:latin typeface="Roboto"/>
              </a:rPr>
              <a:t>GPT-4o-mini</a:t>
            </a:r>
          </a:p>
        </p:txBody>
      </p:sp>
      <p:sp>
        <p:nvSpPr>
          <p:cNvPr id="9" name="Chevron 8"/>
          <p:cNvSpPr/>
          <p:nvPr/>
        </p:nvSpPr>
        <p:spPr>
          <a:xfrm rot="5400000">
            <a:off x="6004407" y="2679192"/>
            <a:ext cx="182880" cy="329184"/>
          </a:xfrm>
          <a:prstGeom prst="chevron">
            <a:avLst/>
          </a:prstGeom>
          <a:solidFill>
            <a:srgbClr val="0F5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8455" y="273405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64748B"/>
                </a:solidFill>
                <a:latin typeface="Open Sans"/>
              </a:rPr>
              <a:t>Compare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026664"/>
            <a:ext cx="2682163" cy="365760"/>
          </a:xfrm>
          <a:prstGeom prst="roundRect">
            <a:avLst>
              <a:gd name="adj" fmla="val 50000"/>
            </a:avLst>
          </a:prstGeom>
          <a:solidFill>
            <a:srgbClr val="E7F8F4"/>
          </a:solidFill>
          <a:ln w="952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50" b="1" i="0">
                <a:solidFill>
                  <a:srgbClr val="0F5C56"/>
                </a:solidFill>
                <a:latin typeface="Open Sans"/>
              </a:rPr>
              <a:t>Agreement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2243" y="3026664"/>
            <a:ext cx="2682163" cy="365760"/>
          </a:xfrm>
          <a:prstGeom prst="roundRect">
            <a:avLst>
              <a:gd name="adj" fmla="val 50000"/>
            </a:avLst>
          </a:prstGeom>
          <a:solidFill>
            <a:srgbClr val="E7F8F4"/>
          </a:solidFill>
          <a:ln w="952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50" b="1" i="0">
                <a:solidFill>
                  <a:srgbClr val="0F5C56"/>
                </a:solidFill>
                <a:latin typeface="Open Sans"/>
              </a:rPr>
              <a:t>Latency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7287" y="3026664"/>
            <a:ext cx="2682163" cy="365760"/>
          </a:xfrm>
          <a:prstGeom prst="roundRect">
            <a:avLst>
              <a:gd name="adj" fmla="val 50000"/>
            </a:avLst>
          </a:prstGeom>
          <a:solidFill>
            <a:srgbClr val="E7F8F4"/>
          </a:solidFill>
          <a:ln w="952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50" b="1" i="0">
                <a:solidFill>
                  <a:srgbClr val="0F5C56"/>
                </a:solidFill>
                <a:latin typeface="Open Sans"/>
              </a:rPr>
              <a:t>Tokens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331" y="3026664"/>
            <a:ext cx="2682163" cy="365760"/>
          </a:xfrm>
          <a:prstGeom prst="roundRect">
            <a:avLst>
              <a:gd name="adj" fmla="val 50000"/>
            </a:avLst>
          </a:prstGeom>
          <a:solidFill>
            <a:srgbClr val="E7F8F4"/>
          </a:solidFill>
          <a:ln w="952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50" b="1" i="0">
                <a:solidFill>
                  <a:srgbClr val="0F5C56"/>
                </a:solidFill>
                <a:latin typeface="Open Sans"/>
              </a:rPr>
              <a:t>Cost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3648456"/>
          <a:ext cx="553212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88720"/>
                <a:gridCol w="1143000"/>
                <a:gridCol w="960120"/>
                <a:gridCol w="11430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Roboto"/>
                        </a:rPr>
                        <a:t>Model</a:t>
                      </a:r>
                    </a:p>
                  </a:txBody>
                  <a:tcPr marL="73152" marR="73152" marT="27432" marB="27432" anchor="ctr">
                    <a:solidFill>
                      <a:srgbClr val="2E2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Roboto"/>
                        </a:rPr>
                        <a:t>Latency (ms)</a:t>
                      </a:r>
                    </a:p>
                  </a:txBody>
                  <a:tcPr marL="73152" marR="73152" marT="27432" marB="27432" anchor="ctr">
                    <a:solidFill>
                      <a:srgbClr val="2E2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Roboto"/>
                        </a:rPr>
                        <a:t>Tokens/Rec.</a:t>
                      </a:r>
                    </a:p>
                  </a:txBody>
                  <a:tcPr marL="73152" marR="73152" marT="27432" marB="27432" anchor="ctr">
                    <a:solidFill>
                      <a:srgbClr val="2E2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Roboto"/>
                        </a:rPr>
                        <a:t>Cost/Rec.</a:t>
                      </a:r>
                    </a:p>
                  </a:txBody>
                  <a:tcPr marL="73152" marR="73152" marT="27432" marB="27432" anchor="ctr">
                    <a:solidFill>
                      <a:srgbClr val="2E2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Roboto"/>
                        </a:rPr>
                        <a:t>Agreement</a:t>
                      </a:r>
                    </a:p>
                  </a:txBody>
                  <a:tcPr marL="73152" marR="73152" marT="27432" marB="27432" anchor="ctr">
                    <a:solidFill>
                      <a:srgbClr val="2E2A6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E293B"/>
                          </a:solidFill>
                          <a:latin typeface="Open Sans"/>
                        </a:rPr>
                        <a:t>gpt-5-mini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Open Sans"/>
                        </a:rPr>
                        <a:t>12,642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Open Sans"/>
                        </a:rPr>
                        <a:t>2,265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Open Sans"/>
                        </a:rPr>
                        <a:t>$0.0028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Open Sans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E293B"/>
                          </a:solidFill>
                          <a:latin typeface="Open Sans"/>
                        </a:rPr>
                        <a:t>gpt-4.1-mini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Open Sans"/>
                        </a:rPr>
                        <a:t>12,762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Open Sans"/>
                        </a:rPr>
                        <a:t>2,180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Open Sans"/>
                        </a:rPr>
                        <a:t>$0.0023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Open Sans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E293B"/>
                          </a:solidFill>
                          <a:latin typeface="Open Sans"/>
                        </a:rPr>
                        <a:t>gpt-4o-mini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Open Sans"/>
                        </a:rPr>
                        <a:t>14,197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Open Sans"/>
                        </a:rPr>
                        <a:t>2,210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Open Sans"/>
                        </a:rPr>
                        <a:t>$0.0009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Open Sans"/>
                        </a:rPr>
                        <a:t>92%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457200" y="4983480"/>
            <a:ext cx="5532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1">
                <a:solidFill>
                  <a:srgbClr val="64748B"/>
                </a:solidFill>
                <a:latin typeface="Open Sans"/>
              </a:rPr>
              <a:t>Based on a 25-record benchmark run per model (same dataset &amp; prompts, v1) from InsightCX's AI Evaluation module.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3648456"/>
            <a:ext cx="5425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F172A"/>
                </a:solidFill>
                <a:latin typeface="Roboto"/>
              </a:rPr>
              <a:t>Model Comparison view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59" y="3959352"/>
            <a:ext cx="5425135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0054" y="4087368"/>
            <a:ext cx="4963746" cy="223113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7200" y="656539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94A3B8"/>
                </a:solidFill>
                <a:latin typeface="Roboto"/>
              </a:rPr>
              <a:t>InsightCX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20095" y="656539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Ope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 spc="170">
                <a:solidFill>
                  <a:srgbClr val="0D9488"/>
                </a:solidFill>
                <a:latin typeface="Open Sans"/>
              </a:rPr>
              <a:t>LESSONS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94944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172A"/>
                </a:solidFill>
                <a:latin typeface="Roboto"/>
              </a:rPr>
              <a:t>What it took to build InsightCX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25296"/>
            <a:ext cx="11277295" cy="467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475569"/>
                </a:solidFill>
                <a:latin typeface="Open Sans"/>
              </a:rPr>
              <a:t>Integrating an LLM is relatively easy — designing useful output, handling variability, and evaluating whether the result is actually useful are the harder problems.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30527"/>
            <a:ext cx="5501487" cy="21436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24027" bIns="224027"/>
          <a:lstStyle/>
          <a:p>
            <a:pPr algn="l"/>
            <a:r>
              <a:rPr sz="1700" b="1" i="0">
                <a:solidFill>
                  <a:srgbClr val="0F172A"/>
                </a:solidFill>
                <a:latin typeface="Roboto"/>
              </a:rPr>
              <a:t>From CX problem to AI product</a:t>
            </a:r>
          </a:p>
          <a:p>
            <a:pPr algn="l">
              <a:lnSpc>
                <a:spcPct val="108000"/>
              </a:lnSpc>
              <a:spcBef>
                <a:spcPts val="400"/>
              </a:spcBef>
            </a:pPr>
            <a:r>
              <a:rPr sz="1250" b="0" i="0">
                <a:solidFill>
                  <a:srgbClr val="475569"/>
                </a:solidFill>
                <a:latin typeface="Open Sans"/>
              </a:rPr>
              <a:t>Turning unstructured customer feedback into business-ready insights.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113407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930527"/>
            <a:ext cx="5501487" cy="21436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24027" bIns="224027"/>
          <a:lstStyle/>
          <a:p>
            <a:pPr algn="l"/>
            <a:r>
              <a:rPr sz="1700" b="1" i="0">
                <a:solidFill>
                  <a:srgbClr val="0F172A"/>
                </a:solidFill>
                <a:latin typeface="Roboto"/>
              </a:rPr>
              <a:t>Creating meaningful test data</a:t>
            </a:r>
          </a:p>
          <a:p>
            <a:pPr algn="l">
              <a:lnSpc>
                <a:spcPct val="108000"/>
              </a:lnSpc>
              <a:spcBef>
                <a:spcPts val="400"/>
              </a:spcBef>
            </a:pPr>
            <a:r>
              <a:rPr sz="1250" b="0" i="0">
                <a:solidFill>
                  <a:srgbClr val="475569"/>
                </a:solidFill>
                <a:latin typeface="Open Sans"/>
              </a:rPr>
              <a:t>Building realistic, varied feedback capable of revealing genuine patterns.</a:t>
            </a:r>
          </a:p>
        </p:txBody>
      </p:sp>
      <p:sp>
        <p:nvSpPr>
          <p:cNvPr id="8" name="Oval 7"/>
          <p:cNvSpPr/>
          <p:nvPr/>
        </p:nvSpPr>
        <p:spPr>
          <a:xfrm>
            <a:off x="6415887" y="2113407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302823"/>
            <a:ext cx="5501487" cy="21436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24027" bIns="224027"/>
          <a:lstStyle/>
          <a:p>
            <a:pPr algn="l"/>
            <a:r>
              <a:rPr sz="1700" b="1" i="0">
                <a:solidFill>
                  <a:srgbClr val="0F172A"/>
                </a:solidFill>
                <a:latin typeface="Roboto"/>
              </a:rPr>
              <a:t>Evaluating AI, not just using it</a:t>
            </a:r>
          </a:p>
          <a:p>
            <a:pPr algn="l">
              <a:lnSpc>
                <a:spcPct val="108000"/>
              </a:lnSpc>
              <a:spcBef>
                <a:spcPts val="400"/>
              </a:spcBef>
            </a:pPr>
            <a:r>
              <a:rPr sz="1250" b="0" i="0">
                <a:solidFill>
                  <a:srgbClr val="475569"/>
                </a:solidFill>
                <a:latin typeface="Open Sans"/>
              </a:rPr>
              <a:t>Comparing models across quality, consistency, latency and cost.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485703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4302823"/>
            <a:ext cx="5501487" cy="21436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24027" bIns="224027"/>
          <a:lstStyle/>
          <a:p>
            <a:pPr algn="l"/>
            <a:r>
              <a:rPr sz="1700" b="1" i="0">
                <a:solidFill>
                  <a:srgbClr val="0F172A"/>
                </a:solidFill>
                <a:latin typeface="Roboto"/>
              </a:rPr>
              <a:t>Integrating a full-stack AI application</a:t>
            </a:r>
          </a:p>
          <a:p>
            <a:pPr algn="l">
              <a:lnSpc>
                <a:spcPct val="108000"/>
              </a:lnSpc>
              <a:spcBef>
                <a:spcPts val="400"/>
              </a:spcBef>
            </a:pPr>
            <a:r>
              <a:rPr sz="1250" b="0" i="0">
                <a:solidFill>
                  <a:srgbClr val="475569"/>
                </a:solidFill>
                <a:latin typeface="Open Sans"/>
              </a:rPr>
              <a:t>Connecting Flask, database, LLM services and React while learning the stack.</a:t>
            </a:r>
          </a:p>
        </p:txBody>
      </p:sp>
      <p:sp>
        <p:nvSpPr>
          <p:cNvPr id="12" name="Oval 11"/>
          <p:cNvSpPr/>
          <p:nvPr/>
        </p:nvSpPr>
        <p:spPr>
          <a:xfrm>
            <a:off x="6415887" y="4485703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94A3B8"/>
                </a:solidFill>
                <a:latin typeface="Roboto"/>
              </a:rPr>
              <a:t>InsightCX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56539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Ope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 spc="170">
                <a:solidFill>
                  <a:srgbClr val="0D9488"/>
                </a:solidFill>
                <a:latin typeface="Open Sans"/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94944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172A"/>
                </a:solidFill>
                <a:latin typeface="Roboto"/>
              </a:rPr>
              <a:t>Taking InsightCX beyond the MVP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755648"/>
            <a:ext cx="3606698" cy="2880360"/>
          </a:xfrm>
          <a:prstGeom prst="roundRect">
            <a:avLst>
              <a:gd name="adj" fmla="val 8000"/>
            </a:avLst>
          </a:prstGeom>
          <a:solidFill>
            <a:srgbClr val="E7F8F4"/>
          </a:solidFill>
          <a:ln w="952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5" bIns="128015"/>
          <a:lstStyle/>
          <a:p>
            <a:pPr algn="l"/>
            <a:r>
              <a:rPr sz="1300" b="1" i="0">
                <a:solidFill>
                  <a:srgbClr val="0F5C56"/>
                </a:solidFill>
                <a:latin typeface="Roboto"/>
              </a:rPr>
              <a:t>Human-in-the-loop</a:t>
            </a:r>
          </a:p>
          <a:p>
            <a:pPr algn="l">
              <a:lnSpc>
                <a:spcPct val="108000"/>
              </a:lnSpc>
              <a:spcBef>
                <a:spcPts val="400"/>
              </a:spcBef>
            </a:pPr>
            <a:r>
              <a:rPr sz="1050" b="0" i="0">
                <a:solidFill>
                  <a:srgbClr val="475569"/>
                </a:solidFill>
                <a:latin typeface="Open Sans"/>
              </a:rPr>
              <a:t>Allow users to review, validate and correct AI classifications, creating a feedback loop to improve analysis quality.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2498" y="1755648"/>
            <a:ext cx="3606698" cy="2880360"/>
          </a:xfrm>
          <a:prstGeom prst="roundRect">
            <a:avLst>
              <a:gd name="adj" fmla="val 8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5" bIns="128015"/>
          <a:lstStyle/>
          <a:p>
            <a:pPr algn="l"/>
            <a:r>
              <a:rPr sz="1300" b="1" i="0">
                <a:solidFill>
                  <a:srgbClr val="2E2A6E"/>
                </a:solidFill>
                <a:latin typeface="Roboto"/>
              </a:rPr>
              <a:t>Trend analysis</a:t>
            </a:r>
          </a:p>
          <a:p>
            <a:pPr algn="l">
              <a:lnSpc>
                <a:spcPct val="108000"/>
              </a:lnSpc>
              <a:spcBef>
                <a:spcPts val="400"/>
              </a:spcBef>
            </a:pPr>
            <a:r>
              <a:rPr sz="1050" b="0" i="0">
                <a:solidFill>
                  <a:srgbClr val="475569"/>
                </a:solidFill>
                <a:latin typeface="Open Sans"/>
              </a:rPr>
              <a:t>Track themes, sentiment and customer issues over time to identify emerging problems and measure whether actions are working.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27796" y="1755648"/>
            <a:ext cx="3606698" cy="2880360"/>
          </a:xfrm>
          <a:prstGeom prst="roundRect">
            <a:avLst>
              <a:gd name="adj" fmla="val 8000"/>
            </a:avLst>
          </a:prstGeom>
          <a:solidFill>
            <a:srgbClr val="E7F8F4"/>
          </a:solidFill>
          <a:ln w="952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5" bIns="128015"/>
          <a:lstStyle/>
          <a:p>
            <a:pPr algn="l"/>
            <a:r>
              <a:rPr sz="1300" b="1" i="0">
                <a:solidFill>
                  <a:srgbClr val="0F5C56"/>
                </a:solidFill>
                <a:latin typeface="Roboto"/>
              </a:rPr>
              <a:t>Advanced evaluation</a:t>
            </a:r>
          </a:p>
          <a:p>
            <a:pPr algn="l">
              <a:lnSpc>
                <a:spcPct val="108000"/>
              </a:lnSpc>
              <a:spcBef>
                <a:spcPts val="400"/>
              </a:spcBef>
            </a:pPr>
            <a:r>
              <a:rPr sz="1050" b="0" i="0">
                <a:solidFill>
                  <a:srgbClr val="475569"/>
                </a:solidFill>
                <a:latin typeface="Open Sans"/>
              </a:rPr>
              <a:t>Introduce ground-truth datasets and formal quality metrics to systematically measure and improve AI performance.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910328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1">
                <a:solidFill>
                  <a:srgbClr val="64748B"/>
                </a:solidFill>
                <a:latin typeface="Open Sans"/>
              </a:rPr>
              <a:t>Not a committed roadmap — potential next steps based on what the MVP surfaced.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94A3B8"/>
                </a:solidFill>
                <a:latin typeface="Roboto"/>
              </a:rPr>
              <a:t>InsightCX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Open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 spc="170">
                <a:solidFill>
                  <a:srgbClr val="0D9488"/>
                </a:solidFill>
                <a:latin typeface="Open Sans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94944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172A"/>
                </a:solidFill>
                <a:latin typeface="Roboto"/>
              </a:rPr>
              <a:t>Let's see it in action</a:t>
            </a:r>
          </a:p>
        </p:txBody>
      </p:sp>
      <p:sp>
        <p:nvSpPr>
          <p:cNvPr id="4" name="Oval 3"/>
          <p:cNvSpPr/>
          <p:nvPr/>
        </p:nvSpPr>
        <p:spPr>
          <a:xfrm>
            <a:off x="1574253" y="1984248"/>
            <a:ext cx="365760" cy="36576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487168"/>
            <a:ext cx="259986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15214" bIns="115214"/>
          <a:lstStyle/>
          <a:p>
            <a:pPr algn="ctr"/>
            <a:r>
              <a:rPr sz="1350" b="1" i="0">
                <a:solidFill>
                  <a:srgbClr val="0F172A"/>
                </a:solidFill>
                <a:latin typeface="Roboto"/>
              </a:rPr>
              <a:t>Upload
feedback</a:t>
            </a:r>
          </a:p>
        </p:txBody>
      </p:sp>
      <p:sp>
        <p:nvSpPr>
          <p:cNvPr id="6" name="Chevron 5"/>
          <p:cNvSpPr/>
          <p:nvPr/>
        </p:nvSpPr>
        <p:spPr>
          <a:xfrm>
            <a:off x="3057067" y="3035808"/>
            <a:ext cx="292608" cy="274320"/>
          </a:xfrm>
          <a:prstGeom prst="chevron">
            <a:avLst/>
          </a:prstGeom>
          <a:solidFill>
            <a:srgbClr val="0F5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466729" y="1984248"/>
            <a:ext cx="365760" cy="36576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9675" y="2487168"/>
            <a:ext cx="259986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15214" bIns="115214"/>
          <a:lstStyle/>
          <a:p>
            <a:pPr algn="ctr"/>
            <a:r>
              <a:rPr sz="1350" b="1" i="0">
                <a:solidFill>
                  <a:srgbClr val="0F172A"/>
                </a:solidFill>
                <a:latin typeface="Roboto"/>
              </a:rPr>
              <a:t>Analyze customer
voice</a:t>
            </a:r>
          </a:p>
        </p:txBody>
      </p:sp>
      <p:sp>
        <p:nvSpPr>
          <p:cNvPr id="9" name="Chevron 8"/>
          <p:cNvSpPr/>
          <p:nvPr/>
        </p:nvSpPr>
        <p:spPr>
          <a:xfrm>
            <a:off x="5949543" y="3035808"/>
            <a:ext cx="292608" cy="274320"/>
          </a:xfrm>
          <a:prstGeom prst="chevron">
            <a:avLst/>
          </a:prstGeom>
          <a:solidFill>
            <a:srgbClr val="0F5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59205" y="1984248"/>
            <a:ext cx="365760" cy="36576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2151" y="2487168"/>
            <a:ext cx="259986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15214" bIns="115214"/>
          <a:lstStyle/>
          <a:p>
            <a:pPr algn="ctr"/>
            <a:r>
              <a:rPr sz="1350" b="1" i="0">
                <a:solidFill>
                  <a:srgbClr val="0F172A"/>
                </a:solidFill>
                <a:latin typeface="Roboto"/>
              </a:rPr>
              <a:t>Explore customer
health</a:t>
            </a:r>
          </a:p>
        </p:txBody>
      </p:sp>
      <p:sp>
        <p:nvSpPr>
          <p:cNvPr id="12" name="Chevron 11"/>
          <p:cNvSpPr/>
          <p:nvPr/>
        </p:nvSpPr>
        <p:spPr>
          <a:xfrm>
            <a:off x="8842019" y="3035808"/>
            <a:ext cx="292608" cy="274320"/>
          </a:xfrm>
          <a:prstGeom prst="chevron">
            <a:avLst/>
          </a:prstGeom>
          <a:solidFill>
            <a:srgbClr val="0F5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51681" y="1984248"/>
            <a:ext cx="365760" cy="36576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34627" y="2487168"/>
            <a:ext cx="259986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15214" bIns="115214"/>
          <a:lstStyle/>
          <a:p>
            <a:pPr algn="ctr"/>
            <a:r>
              <a:rPr sz="1350" b="1" i="0">
                <a:solidFill>
                  <a:srgbClr val="0F172A"/>
                </a:solidFill>
                <a:latin typeface="Roboto"/>
              </a:rPr>
              <a:t>Generate executive
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6539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94A3B8"/>
                </a:solidFill>
                <a:latin typeface="Roboto"/>
              </a:rPr>
              <a:t>InsightCX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56539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Open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23847" y="1371600"/>
            <a:ext cx="9144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100" b="0" i="1">
                <a:solidFill>
                  <a:srgbClr val="1E293B"/>
                </a:solidFill>
                <a:latin typeface="Roboto"/>
              </a:rPr>
              <a:t>InsightCX is about using AI to make customer feedback more structured, scalable and actionable — so CX teams can spend less time processing feedback and more time acting on it.</a:t>
            </a:r>
          </a:p>
        </p:txBody>
      </p:sp>
      <p:pic>
        <p:nvPicPr>
          <p:cNvPr id="3" name="Picture 2" descr="insightcx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167" y="3977639"/>
            <a:ext cx="4023360" cy="9581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352647" y="5056516"/>
            <a:ext cx="5486400" cy="2034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44" b="1" i="0" spc="100">
                <a:solidFill>
                  <a:srgbClr val="0F5C56"/>
                </a:solidFill>
                <a:latin typeface="Open Sans"/>
              </a:rPr>
              <a:t>Every Voice. Every Insight.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
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sightcx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287" y="1783080"/>
            <a:ext cx="4389120" cy="10452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2647" y="2960036"/>
            <a:ext cx="5486400" cy="221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48" b="1" i="0" spc="100">
                <a:solidFill>
                  <a:srgbClr val="0F5C56"/>
                </a:solidFill>
                <a:latin typeface="Open Sans"/>
              </a:rPr>
              <a:t>Every Voice. Every Insight.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342900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475569"/>
                </a:solidFill>
                <a:latin typeface="Open Sans"/>
              </a:rPr>
              <a:t>AI-powered Voice of 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047" y="3977639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64748B"/>
                </a:solidFill>
                <a:latin typeface="Open Sans"/>
              </a:rPr>
              <a:t>Transforming customer feedback into structured insight and actionable business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927" y="480060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350" b="1" i="0">
                <a:solidFill>
                  <a:srgbClr val="2E2A6E"/>
                </a:solidFill>
                <a:latin typeface="Roboto"/>
              </a:rPr>
              <a:t>Customer Feedback</a:t>
            </a:r>
          </a:p>
        </p:txBody>
      </p:sp>
      <p:sp>
        <p:nvSpPr>
          <p:cNvPr id="7" name="Chevron 6"/>
          <p:cNvSpPr/>
          <p:nvPr/>
        </p:nvSpPr>
        <p:spPr>
          <a:xfrm>
            <a:off x="4541367" y="5080406"/>
            <a:ext cx="365760" cy="217627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07127" y="480060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350" b="1" i="0">
                <a:solidFill>
                  <a:srgbClr val="2E2A6E"/>
                </a:solidFill>
                <a:latin typeface="Roboto"/>
              </a:rPr>
              <a:t>AI Analysis</a:t>
            </a:r>
          </a:p>
        </p:txBody>
      </p:sp>
      <p:sp>
        <p:nvSpPr>
          <p:cNvPr id="9" name="Chevron 8"/>
          <p:cNvSpPr/>
          <p:nvPr/>
        </p:nvSpPr>
        <p:spPr>
          <a:xfrm>
            <a:off x="7284567" y="5080406"/>
            <a:ext cx="365760" cy="217627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50327" y="480060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350" b="1" i="0">
                <a:solidFill>
                  <a:srgbClr val="2E2A6E"/>
                </a:solidFill>
                <a:latin typeface="Roboto"/>
              </a:rPr>
              <a:t>Actionable 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THE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From problem to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55648"/>
            <a:ext cx="358841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75104"/>
            <a:ext cx="31494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46E5"/>
                </a:solidFill>
                <a:latin typeface="Roboto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26771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Why customer voice is difficult to scale</a:t>
            </a:r>
          </a:p>
        </p:txBody>
      </p:sp>
      <p:sp>
        <p:nvSpPr>
          <p:cNvPr id="8" name="Chevron 7"/>
          <p:cNvSpPr/>
          <p:nvPr/>
        </p:nvSpPr>
        <p:spPr>
          <a:xfrm>
            <a:off x="4082186" y="2189988"/>
            <a:ext cx="182880" cy="274320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01642" y="1755648"/>
            <a:ext cx="358841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47946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1975104"/>
            <a:ext cx="31494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46E5"/>
                </a:solidFill>
                <a:latin typeface="Roboto"/>
              </a:rPr>
              <a:t>THE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26771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Turning customer language into structured insight</a:t>
            </a:r>
          </a:p>
        </p:txBody>
      </p:sp>
      <p:sp>
        <p:nvSpPr>
          <p:cNvPr id="13" name="Chevron 12"/>
          <p:cNvSpPr/>
          <p:nvPr/>
        </p:nvSpPr>
        <p:spPr>
          <a:xfrm>
            <a:off x="7926628" y="2189988"/>
            <a:ext cx="182880" cy="274320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46084" y="1755648"/>
            <a:ext cx="358841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2388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5540" y="1975104"/>
            <a:ext cx="31494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46E5"/>
                </a:solidFill>
                <a:latin typeface="Roboto"/>
              </a:rPr>
              <a:t>THE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5540" y="226771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From AI output to business action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72968"/>
            <a:ext cx="358841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504" y="3026663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92424"/>
            <a:ext cx="31494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46E5"/>
                </a:solidFill>
                <a:latin typeface="Roboto"/>
              </a:rPr>
              <a:t>THE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68503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Evaluating the AI behind the experience</a:t>
            </a:r>
          </a:p>
        </p:txBody>
      </p:sp>
      <p:sp>
        <p:nvSpPr>
          <p:cNvPr id="22" name="Chevron 21"/>
          <p:cNvSpPr/>
          <p:nvPr/>
        </p:nvSpPr>
        <p:spPr>
          <a:xfrm>
            <a:off x="4082186" y="3607308"/>
            <a:ext cx="182880" cy="274320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01642" y="3172968"/>
            <a:ext cx="358841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47946" y="3026663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098" y="3392424"/>
            <a:ext cx="31494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46E5"/>
                </a:solidFill>
                <a:latin typeface="Roboto"/>
              </a:rPr>
              <a:t>THE LEARNINGS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1098" y="368503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What building the MVP revealed</a:t>
            </a:r>
          </a:p>
        </p:txBody>
      </p:sp>
      <p:sp>
        <p:nvSpPr>
          <p:cNvPr id="27" name="Chevron 26"/>
          <p:cNvSpPr/>
          <p:nvPr/>
        </p:nvSpPr>
        <p:spPr>
          <a:xfrm>
            <a:off x="7926628" y="3607308"/>
            <a:ext cx="182880" cy="274320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46084" y="3172968"/>
            <a:ext cx="358841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92388" y="3026663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5540" y="3392424"/>
            <a:ext cx="314949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46E5"/>
                </a:solidFill>
                <a:latin typeface="Roboto"/>
              </a:rPr>
              <a:t>THE NEXT STEP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5540" y="3685032"/>
            <a:ext cx="31494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Where InsightCX could go from here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590288"/>
            <a:ext cx="11277295" cy="11430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3504" y="4443983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4809744"/>
            <a:ext cx="108383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4F46E5"/>
                </a:solidFill>
                <a:latin typeface="Roboto"/>
              </a:rPr>
              <a:t>SEE IT IN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5102352"/>
            <a:ext cx="108383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Live demo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Customer feedback contains the answers — but they're buried in text.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55648"/>
            <a:ext cx="5519775" cy="813816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79222" bIns="179222"/>
          <a:lstStyle/>
          <a:p>
            <a:pPr algn="l"/>
            <a:r>
              <a:rPr sz="1300" b="1" i="0">
                <a:solidFill>
                  <a:srgbClr val="0F5C56"/>
                </a:solidFill>
                <a:latin typeface="Roboto"/>
              </a:rPr>
              <a:t>“The sofa is beautiful, but delivery was two days late.”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4719" y="1755648"/>
            <a:ext cx="5519775" cy="813816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79222" bIns="179222"/>
          <a:lstStyle/>
          <a:p>
            <a:pPr algn="l"/>
            <a:r>
              <a:rPr sz="1300" b="1" i="0">
                <a:solidFill>
                  <a:srgbClr val="0F5C56"/>
                </a:solidFill>
                <a:latin typeface="Roboto"/>
              </a:rPr>
              <a:t>“The assembly instructions were impossible to follow.”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70632"/>
            <a:ext cx="5519775" cy="813816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79222" bIns="179222"/>
          <a:lstStyle/>
          <a:p>
            <a:pPr algn="l"/>
            <a:r>
              <a:rPr sz="1300" b="1" i="0">
                <a:solidFill>
                  <a:srgbClr val="0F5C56"/>
                </a:solidFill>
                <a:latin typeface="Roboto"/>
              </a:rPr>
              <a:t>“Returning the table was surprisingly easy.”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4719" y="2770632"/>
            <a:ext cx="5519775" cy="813816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79222" bIns="179222"/>
          <a:lstStyle/>
          <a:p>
            <a:pPr algn="l"/>
            <a:r>
              <a:rPr sz="1300" b="1" i="0">
                <a:solidFill>
                  <a:srgbClr val="0F5C56"/>
                </a:solidFill>
                <a:latin typeface="Roboto"/>
              </a:rPr>
              <a:t>“I couldn't find any information about my order.”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2050633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150" b="1" i="0">
                <a:solidFill>
                  <a:srgbClr val="1E293B"/>
                </a:solidFill>
                <a:latin typeface="Roboto"/>
              </a:rPr>
              <a:t>Hundreds of
comments</a:t>
            </a:r>
          </a:p>
        </p:txBody>
      </p:sp>
      <p:sp>
        <p:nvSpPr>
          <p:cNvPr id="9" name="Chevron 8"/>
          <p:cNvSpPr/>
          <p:nvPr/>
        </p:nvSpPr>
        <p:spPr>
          <a:xfrm>
            <a:off x="2507833" y="4186123"/>
            <a:ext cx="256032" cy="268833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63865" y="3840480"/>
            <a:ext cx="2050633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150" b="1" i="0">
                <a:solidFill>
                  <a:srgbClr val="1E293B"/>
                </a:solidFill>
                <a:latin typeface="Roboto"/>
              </a:rPr>
              <a:t>Unstructured
customer language</a:t>
            </a:r>
          </a:p>
        </p:txBody>
      </p:sp>
      <p:sp>
        <p:nvSpPr>
          <p:cNvPr id="11" name="Chevron 10"/>
          <p:cNvSpPr/>
          <p:nvPr/>
        </p:nvSpPr>
        <p:spPr>
          <a:xfrm>
            <a:off x="4814498" y="4186123"/>
            <a:ext cx="256032" cy="268833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70530" y="3840480"/>
            <a:ext cx="2050633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150" b="1" i="0">
                <a:solidFill>
                  <a:srgbClr val="1E293B"/>
                </a:solidFill>
                <a:latin typeface="Roboto"/>
              </a:rPr>
              <a:t>Manual
analysis</a:t>
            </a:r>
          </a:p>
        </p:txBody>
      </p:sp>
      <p:sp>
        <p:nvSpPr>
          <p:cNvPr id="13" name="Chevron 12"/>
          <p:cNvSpPr/>
          <p:nvPr/>
        </p:nvSpPr>
        <p:spPr>
          <a:xfrm>
            <a:off x="7121164" y="4186123"/>
            <a:ext cx="256032" cy="268833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77196" y="3840480"/>
            <a:ext cx="2050633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150" b="1" i="0">
                <a:solidFill>
                  <a:srgbClr val="1E293B"/>
                </a:solidFill>
                <a:latin typeface="Roboto"/>
              </a:rPr>
              <a:t>Slow / inconsistent
insight</a:t>
            </a:r>
          </a:p>
        </p:txBody>
      </p:sp>
      <p:sp>
        <p:nvSpPr>
          <p:cNvPr id="15" name="Chevron 14"/>
          <p:cNvSpPr/>
          <p:nvPr/>
        </p:nvSpPr>
        <p:spPr>
          <a:xfrm>
            <a:off x="9427829" y="4186123"/>
            <a:ext cx="256032" cy="268833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83861" y="3840480"/>
            <a:ext cx="2050633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150" b="1" i="0">
                <a:solidFill>
                  <a:srgbClr val="1E293B"/>
                </a:solidFill>
                <a:latin typeface="Roboto"/>
              </a:rPr>
              <a:t>Missed
opportunities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074920"/>
            <a:ext cx="11277295" cy="749808"/>
          </a:xfrm>
          <a:prstGeom prst="roundRect">
            <a:avLst>
              <a:gd name="adj" fmla="val 10000"/>
            </a:avLst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1600" b="1" i="1">
                <a:solidFill>
                  <a:srgbClr val="FFFFFF"/>
                </a:solidFill>
                <a:latin typeface="Roboto"/>
              </a:rPr>
              <a:t>Can an LLM turn that unstructured customer voice into something we can actually analyze?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THE BUSINESS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A home-furnishing retailer — and hundreds of customer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4F46E5"/>
                </a:solidFill>
                <a:latin typeface="Open Sans"/>
              </a:rPr>
              <a:t>CUSTOMER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47672"/>
            <a:ext cx="2094524" cy="6858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200" b="1" i="0">
                <a:solidFill>
                  <a:srgbClr val="2E2A6E"/>
                </a:solidFill>
                <a:latin typeface="Roboto"/>
              </a:rPr>
              <a:t>Discover</a:t>
            </a:r>
          </a:p>
        </p:txBody>
      </p:sp>
      <p:sp>
        <p:nvSpPr>
          <p:cNvPr id="6" name="Chevron 5"/>
          <p:cNvSpPr/>
          <p:nvPr/>
        </p:nvSpPr>
        <p:spPr>
          <a:xfrm>
            <a:off x="2551724" y="2194560"/>
            <a:ext cx="201168" cy="192024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52892" y="1947672"/>
            <a:ext cx="2094524" cy="6858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200" b="1" i="0">
                <a:solidFill>
                  <a:srgbClr val="2E2A6E"/>
                </a:solidFill>
                <a:latin typeface="Roboto"/>
              </a:rPr>
              <a:t>Purchase</a:t>
            </a:r>
          </a:p>
        </p:txBody>
      </p:sp>
      <p:sp>
        <p:nvSpPr>
          <p:cNvPr id="8" name="Chevron 7"/>
          <p:cNvSpPr/>
          <p:nvPr/>
        </p:nvSpPr>
        <p:spPr>
          <a:xfrm>
            <a:off x="4847417" y="2194560"/>
            <a:ext cx="201168" cy="192024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48585" y="1947672"/>
            <a:ext cx="2094524" cy="6858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200" b="1" i="0">
                <a:solidFill>
                  <a:srgbClr val="2E2A6E"/>
                </a:solidFill>
                <a:latin typeface="Roboto"/>
              </a:rPr>
              <a:t>Delivery</a:t>
            </a:r>
          </a:p>
        </p:txBody>
      </p:sp>
      <p:sp>
        <p:nvSpPr>
          <p:cNvPr id="10" name="Chevron 9"/>
          <p:cNvSpPr/>
          <p:nvPr/>
        </p:nvSpPr>
        <p:spPr>
          <a:xfrm>
            <a:off x="7143109" y="2194560"/>
            <a:ext cx="201168" cy="192024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44277" y="1947672"/>
            <a:ext cx="2094524" cy="6858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200" b="1" i="0">
                <a:solidFill>
                  <a:srgbClr val="2E2A6E"/>
                </a:solidFill>
                <a:latin typeface="Roboto"/>
              </a:rPr>
              <a:t>Assembly</a:t>
            </a:r>
          </a:p>
        </p:txBody>
      </p:sp>
      <p:sp>
        <p:nvSpPr>
          <p:cNvPr id="12" name="Chevron 11"/>
          <p:cNvSpPr/>
          <p:nvPr/>
        </p:nvSpPr>
        <p:spPr>
          <a:xfrm>
            <a:off x="9438802" y="2194560"/>
            <a:ext cx="201168" cy="192024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39970" y="1947672"/>
            <a:ext cx="2094524" cy="68580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7" bIns="64007"/>
          <a:lstStyle/>
          <a:p>
            <a:pPr algn="ctr"/>
            <a:r>
              <a:rPr sz="1200" b="1" i="0">
                <a:solidFill>
                  <a:srgbClr val="2E2A6E"/>
                </a:solidFill>
                <a:latin typeface="Roboto"/>
              </a:rPr>
              <a:t>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16352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475569"/>
                </a:solidFill>
                <a:latin typeface="Open Sans"/>
              </a:rPr>
              <a:t>FEEDBACK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72384"/>
            <a:ext cx="550148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l"/>
            <a:r>
              <a:rPr sz="1350" b="1" i="0">
                <a:solidFill>
                  <a:srgbClr val="0F172A"/>
                </a:solidFill>
                <a:latin typeface="Roboto"/>
              </a:rPr>
              <a:t>NPS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E293B"/>
                </a:solidFill>
                <a:latin typeface="Open Sans"/>
              </a:rPr>
              <a:t>Recommendation / loyalty feedback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000" b="0" i="0">
                <a:solidFill>
                  <a:srgbClr val="475569"/>
                </a:solidFill>
                <a:latin typeface="Open Sans"/>
              </a:rPr>
              <a:t>Measures likelihood to recommend on a 0–10 scale, indicating overall customer loyalty and advocacy.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072384"/>
            <a:ext cx="5501487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l"/>
            <a:r>
              <a:rPr sz="1350" b="1" i="0">
                <a:solidFill>
                  <a:srgbClr val="0F172A"/>
                </a:solidFill>
                <a:latin typeface="Roboto"/>
              </a:rPr>
              <a:t>CSAT</a:t>
            </a:r>
          </a:p>
          <a:p>
            <a:pPr algn="l">
              <a:spcBef>
                <a:spcPts val="300"/>
              </a:spcBef>
            </a:pPr>
            <a:r>
              <a:rPr sz="1100" b="1" i="0">
                <a:solidFill>
                  <a:srgbClr val="1E293B"/>
                </a:solidFill>
                <a:latin typeface="Open Sans"/>
              </a:rPr>
              <a:t>Customer satisfaction feedback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000" b="0" i="0">
                <a:solidFill>
                  <a:srgbClr val="475569"/>
                </a:solidFill>
                <a:latin typeface="Open Sans"/>
              </a:rPr>
              <a:t>Measures satisfaction with a specific experience on a 1–5 scale, helping identify how well the customer’s expectations were met.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0D9488"/>
                </a:solidFill>
                <a:latin typeface="Open Sans"/>
              </a:rPr>
              <a:t>TEST DATASET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71416"/>
            <a:ext cx="11277295" cy="658368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ctr"/>
            <a:r>
              <a:rPr sz="1300" b="1" i="0">
                <a:solidFill>
                  <a:srgbClr val="0F5C56"/>
                </a:solidFill>
                <a:latin typeface="Roboto"/>
              </a:rPr>
              <a:t>Several hundred feedback records across multiple weeks</a:t>
            </a:r>
          </a:p>
          <a:p>
            <a:pPr algn="ctr">
              <a:lnSpc>
                <a:spcPct val="108000"/>
              </a:lnSpc>
              <a:spcBef>
                <a:spcPts val="400"/>
              </a:spcBef>
            </a:pPr>
            <a:r>
              <a:rPr sz="1150" b="0" i="0">
                <a:solidFill>
                  <a:srgbClr val="0F5C56"/>
                </a:solidFill>
                <a:latin typeface="Open Sans"/>
              </a:rPr>
              <a:t>(Positive · Neutral · Negative)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12664"/>
            <a:ext cx="1127729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4F46E5"/>
                </a:solidFill>
                <a:latin typeface="Open Sans"/>
              </a:rPr>
              <a:t>KEY CX THEMES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68696"/>
            <a:ext cx="789432" cy="384048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2E2A6E"/>
                </a:solidFill>
                <a:latin typeface="Open Sans"/>
              </a:rPr>
              <a:t>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4648" y="5568696"/>
            <a:ext cx="2097532" cy="384048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2E2A6E"/>
                </a:solidFill>
                <a:latin typeface="Open Sans"/>
              </a:rPr>
              <a:t>Product quality &amp; assembly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196" y="5568696"/>
            <a:ext cx="789432" cy="384048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2E2A6E"/>
                </a:solidFill>
                <a:latin typeface="Open Sans"/>
              </a:rPr>
              <a:t>Returns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17644" y="5568696"/>
            <a:ext cx="1551432" cy="384048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2E2A6E"/>
                </a:solidFill>
                <a:latin typeface="Open Sans"/>
              </a:rPr>
              <a:t>Website experience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7092" y="5568696"/>
            <a:ext cx="1373632" cy="384048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2E2A6E"/>
                </a:solidFill>
                <a:latin typeface="Open Sans"/>
              </a:rPr>
              <a:t>Payment / billing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98740" y="5568696"/>
            <a:ext cx="1145032" cy="384048"/>
          </a:xfrm>
          <a:prstGeom prst="roundRect">
            <a:avLst>
              <a:gd name="adj" fmla="val 3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2E2A6E"/>
                </a:solidFill>
                <a:latin typeface="Open Sans"/>
              </a:rPr>
              <a:t>Brand loyalty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35624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1">
                <a:solidFill>
                  <a:srgbClr val="64748B"/>
                </a:solidFill>
                <a:latin typeface="Open Sans"/>
              </a:rPr>
              <a:t>A controlled scenario for testing AI functionality — not production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INSIGHTCX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From customer voice to business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55648"/>
            <a:ext cx="32289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466435"/>
            <a:ext cx="2753452" cy="1935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spc="140">
                <a:solidFill>
                  <a:srgbClr val="4F46E5"/>
                </a:solidFill>
                <a:latin typeface="Open San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769711"/>
            <a:ext cx="275345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72A"/>
                </a:solidFill>
                <a:latin typeface="Roboto"/>
              </a:rPr>
              <a:t>Bring customer feedback into one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3327495"/>
            <a:ext cx="2753452" cy="222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NPS · CSAT · Customer comments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3660044"/>
            <a:ext cx="1669796" cy="310896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2E2A6E"/>
                </a:solidFill>
                <a:latin typeface="Open Sans"/>
              </a:rPr>
              <a:t>Raw customer voice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97036" y="1755648"/>
            <a:ext cx="4197622" cy="2926080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1905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43340" y="1609344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4780" y="2305780"/>
            <a:ext cx="3722134" cy="1935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spc="140">
                <a:solidFill>
                  <a:srgbClr val="0F5C56"/>
                </a:solidFill>
                <a:latin typeface="Open Sans"/>
              </a:rPr>
              <a:t>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4780" y="2609056"/>
            <a:ext cx="3722134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72A"/>
                </a:solidFill>
                <a:latin typeface="Roboto"/>
              </a:rPr>
              <a:t>Turn each comment into structured CX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4780" y="3166840"/>
            <a:ext cx="3722134" cy="390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Sentiment · Emotion · Themes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Priority · Confidence ·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4780" y="3649059"/>
            <a:ext cx="3722134" cy="18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64748B"/>
                </a:solidFill>
                <a:latin typeface="Open Sans"/>
              </a:rPr>
              <a:t>“The sofa looks great, but delivery was two days late…”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4780" y="3875563"/>
            <a:ext cx="182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0F5C56"/>
                </a:solidFill>
                <a:latin typeface="Open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54236" y="3875563"/>
            <a:ext cx="747268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DC2626"/>
                </a:solidFill>
                <a:latin typeface="Open Sans"/>
              </a:rPr>
              <a:t>Negative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92944" y="3875563"/>
            <a:ext cx="721868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2E2A6E"/>
                </a:solidFill>
                <a:latin typeface="Open Sans"/>
              </a:rPr>
              <a:t>Delivery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06252" y="3875563"/>
            <a:ext cx="963168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D97706"/>
                </a:solidFill>
                <a:latin typeface="Open Sans"/>
              </a:rPr>
              <a:t>High priority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5554" y="1755648"/>
            <a:ext cx="322894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51858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3298" y="2382456"/>
            <a:ext cx="2753452" cy="1935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spc="140">
                <a:solidFill>
                  <a:srgbClr val="4F46E5"/>
                </a:solidFill>
                <a:latin typeface="Open Sans"/>
              </a:rPr>
              <a:t>INTERPRET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3298" y="2685732"/>
            <a:ext cx="275345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F172A"/>
                </a:solidFill>
                <a:latin typeface="Roboto"/>
              </a:rPr>
              <a:t>Turn feedback patterns into actionable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43298" y="3243516"/>
            <a:ext cx="2753452" cy="3907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Customer health · Trends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Business impact · Leadership priorities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43298" y="3744023"/>
            <a:ext cx="1466596" cy="310896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100" b="1" i="0">
                <a:solidFill>
                  <a:srgbClr val="2E2A6E"/>
                </a:solidFill>
                <a:latin typeface="Open Sans"/>
              </a:rPr>
              <a:t>Executive insight</a:t>
            </a:r>
          </a:p>
        </p:txBody>
      </p:sp>
      <p:sp>
        <p:nvSpPr>
          <p:cNvPr id="26" name="Chevron 25"/>
          <p:cNvSpPr/>
          <p:nvPr/>
        </p:nvSpPr>
        <p:spPr>
          <a:xfrm>
            <a:off x="3750148" y="2990088"/>
            <a:ext cx="182880" cy="457200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8258666" y="2990088"/>
            <a:ext cx="182880" cy="457200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200" y="5001768"/>
            <a:ext cx="11277295" cy="14630"/>
          </a:xfrm>
          <a:prstGeom prst="roundRect">
            <a:avLst>
              <a:gd name="adj" fmla="val 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5201" y="5129783"/>
            <a:ext cx="137820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 spc="140">
                <a:solidFill>
                  <a:srgbClr val="0D9488"/>
                </a:solidFill>
                <a:latin typeface="Open Sans"/>
              </a:rPr>
              <a:t>AI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4573" y="5129783"/>
            <a:ext cx="2661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475569"/>
                </a:solidFill>
                <a:latin typeface="Open Sans"/>
              </a:rPr>
              <a:t>Consistency · Latency · Tokens ·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LLM CAPABILITY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Turning customer language into structured CX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5074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2E2A6E"/>
                </a:solidFill>
                <a:latin typeface="Roboto"/>
              </a:rPr>
              <a:t>NATURAL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38528"/>
            <a:ext cx="50749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92024" bIns="192024"/>
          <a:lstStyle/>
          <a:p>
            <a:pPr algn="l"/>
            <a:r>
              <a:rPr sz="1350" b="1" i="0">
                <a:solidFill>
                  <a:srgbClr val="1E293B"/>
                </a:solidFill>
                <a:latin typeface="Roboto"/>
              </a:rPr>
              <a:t>“The area rug showed up two days late with no explanation. Customer service was helpful when I asked about the delay, but I would’ve liked to know what was going on without having to contact them.”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50207"/>
            <a:ext cx="5074920" cy="1051560"/>
          </a:xfrm>
          <a:prstGeom prst="roundRect">
            <a:avLst>
              <a:gd name="adj" fmla="val 10000"/>
            </a:avLst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wrap="square"/>
          <a:lstStyle/>
          <a:p>
            <a:pPr algn="ctr"/>
            <a:r>
              <a:rPr sz="1350" b="1" i="1">
                <a:solidFill>
                  <a:srgbClr val="FFFFFF"/>
                </a:solidFill>
                <a:latin typeface="Roboto"/>
              </a:rPr>
              <a:t>Once the LLM output is structured, it stops being just text and becomes data the application can work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02935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64748B"/>
                </a:solidFill>
                <a:latin typeface="Open Sans"/>
              </a:rPr>
              <a:t>Customers describe the same experience in many different ways — the application needs consistent categories for analysis.</a:t>
            </a:r>
          </a:p>
        </p:txBody>
      </p:sp>
      <p:sp>
        <p:nvSpPr>
          <p:cNvPr id="8" name="Chevron 7"/>
          <p:cNvSpPr/>
          <p:nvPr/>
        </p:nvSpPr>
        <p:spPr>
          <a:xfrm>
            <a:off x="5669280" y="3813048"/>
            <a:ext cx="685800" cy="502920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81328"/>
            <a:ext cx="50593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0F5C56"/>
                </a:solidFill>
                <a:latin typeface="Roboto"/>
              </a:rPr>
              <a:t>STRUCTURED 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938528"/>
            <a:ext cx="5059375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eedback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082" y="2066544"/>
            <a:ext cx="3245450" cy="39044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75120" y="6153912"/>
            <a:ext cx="50593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1">
                <a:solidFill>
                  <a:srgbClr val="64748B"/>
                </a:solidFill>
                <a:latin typeface="Open Sans"/>
              </a:rPr>
              <a:t>Feedback Explorer — AI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LLM CAPABILITY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From individual comments to executive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54329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2E2A6E"/>
                </a:solidFill>
                <a:latin typeface="Roboto"/>
              </a:rPr>
              <a:t>WHAT IS THIS CUSTOMER SAYING?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1587" y="1481328"/>
            <a:ext cx="54329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 i="0">
                <a:solidFill>
                  <a:srgbClr val="0F5C56"/>
                </a:solidFill>
                <a:latin typeface="Roboto"/>
              </a:rPr>
              <a:t>WHAT DOES IT MEAN FOR THE BUSINESS?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47088"/>
            <a:ext cx="5432907" cy="201168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084832"/>
            <a:ext cx="495741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 i="0">
                <a:solidFill>
                  <a:srgbClr val="2E2A6E"/>
                </a:solidFill>
                <a:latin typeface="Roboto"/>
              </a:rPr>
              <a:t>Feedback Analysis</a:t>
            </a:r>
            <a:r>
              <a:rPr sz="1200" b="0" i="0">
                <a:solidFill>
                  <a:srgbClr val="94A3B8"/>
                </a:solidFill>
                <a:latin typeface="Open Sans"/>
              </a:rPr>
              <a:t>  →  </a:t>
            </a:r>
            <a:r>
              <a:rPr sz="1200" b="0" i="0">
                <a:solidFill>
                  <a:srgbClr val="2E2A6E"/>
                </a:solidFill>
                <a:latin typeface="Open Sans"/>
              </a:rPr>
              <a:t>Individual comment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432304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93B"/>
                </a:solidFill>
                <a:latin typeface="Open Sans"/>
              </a:rPr>
              <a:t>What happened?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" y="2715768"/>
            <a:ext cx="4957419" cy="14630"/>
          </a:xfrm>
          <a:prstGeom prst="roundRect">
            <a:avLst>
              <a:gd name="adj" fmla="val 0"/>
            </a:avLst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2843784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1.  Sentiment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067812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2.  Themes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3291840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3.  Priority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515868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4. 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1587" y="1847088"/>
            <a:ext cx="5432907" cy="2011680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F5C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9331" y="2084832"/>
            <a:ext cx="4957419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1" i="0">
                <a:solidFill>
                  <a:srgbClr val="0F5C56"/>
                </a:solidFill>
                <a:latin typeface="Roboto"/>
              </a:rPr>
              <a:t>Executive Insights</a:t>
            </a:r>
            <a:r>
              <a:rPr sz="1200" b="0" i="0">
                <a:solidFill>
                  <a:srgbClr val="94A3B8"/>
                </a:solidFill>
                <a:latin typeface="Open Sans"/>
              </a:rPr>
              <a:t>  →  </a:t>
            </a:r>
            <a:r>
              <a:rPr sz="1200" b="0" i="0">
                <a:solidFill>
                  <a:srgbClr val="0F5C56"/>
                </a:solidFill>
                <a:latin typeface="Open Sans"/>
              </a:rPr>
              <a:t>Aggregated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9331" y="2432304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E293B"/>
                </a:solidFill>
                <a:latin typeface="Open Sans"/>
              </a:rPr>
              <a:t>What does it mean?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9331" y="2715768"/>
            <a:ext cx="4957419" cy="14630"/>
          </a:xfrm>
          <a:prstGeom prst="roundRect">
            <a:avLst>
              <a:gd name="adj" fmla="val 0"/>
            </a:avLst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9331" y="2843784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1.  Customer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9331" y="3067812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2.  Business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9331" y="3291840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3.  Leadership priorities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9331" y="3515868"/>
            <a:ext cx="4957419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475569"/>
                </a:solidFill>
                <a:latin typeface="Open Sans"/>
              </a:rPr>
              <a:t>4.  Recommended actions</a:t>
            </a:r>
          </a:p>
        </p:txBody>
      </p:sp>
      <p:sp>
        <p:nvSpPr>
          <p:cNvPr id="22" name="Chevron 21"/>
          <p:cNvSpPr/>
          <p:nvPr/>
        </p:nvSpPr>
        <p:spPr>
          <a:xfrm>
            <a:off x="5995263" y="2706624"/>
            <a:ext cx="201168" cy="292608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59936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 spc="130">
                <a:solidFill>
                  <a:srgbClr val="475569"/>
                </a:solidFill>
                <a:latin typeface="Open Sans"/>
              </a:rPr>
              <a:t>FROM ANALYSIS TO INSIGHT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62272"/>
            <a:ext cx="2668447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ctr"/>
            <a:r>
              <a:rPr sz="1150" b="1" i="0">
                <a:solidFill>
                  <a:srgbClr val="0F172A"/>
                </a:solidFill>
                <a:latin typeface="Roboto"/>
              </a:rPr>
              <a:t>Hundreds of
customer comments</a:t>
            </a:r>
          </a:p>
        </p:txBody>
      </p:sp>
      <p:sp>
        <p:nvSpPr>
          <p:cNvPr id="25" name="Oval 24"/>
          <p:cNvSpPr/>
          <p:nvPr/>
        </p:nvSpPr>
        <p:spPr>
          <a:xfrm>
            <a:off x="1645119" y="4315968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26815" y="4462272"/>
            <a:ext cx="2668447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ctr"/>
            <a:r>
              <a:rPr sz="1150" b="1" i="0">
                <a:solidFill>
                  <a:srgbClr val="0F172A"/>
                </a:solidFill>
                <a:latin typeface="Roboto"/>
              </a:rPr>
              <a:t>Patterns across
feedback</a:t>
            </a:r>
          </a:p>
        </p:txBody>
      </p:sp>
      <p:sp>
        <p:nvSpPr>
          <p:cNvPr id="27" name="Oval 26"/>
          <p:cNvSpPr/>
          <p:nvPr/>
        </p:nvSpPr>
        <p:spPr>
          <a:xfrm>
            <a:off x="4514735" y="4315968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6431" y="4462272"/>
            <a:ext cx="2668447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ctr"/>
            <a:r>
              <a:rPr sz="1150" b="1" i="0">
                <a:solidFill>
                  <a:srgbClr val="0F172A"/>
                </a:solidFill>
                <a:latin typeface="Roboto"/>
              </a:rPr>
              <a:t>Business
interpretation</a:t>
            </a:r>
          </a:p>
        </p:txBody>
      </p:sp>
      <p:sp>
        <p:nvSpPr>
          <p:cNvPr id="29" name="Oval 28"/>
          <p:cNvSpPr/>
          <p:nvPr/>
        </p:nvSpPr>
        <p:spPr>
          <a:xfrm>
            <a:off x="7384351" y="4315968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6047" y="4462272"/>
            <a:ext cx="2668447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ctr"/>
            <a:r>
              <a:rPr sz="1150" b="1" i="0">
                <a:solidFill>
                  <a:srgbClr val="0F172A"/>
                </a:solidFill>
                <a:latin typeface="Roboto"/>
              </a:rPr>
              <a:t>Recommended
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10253967" y="4315968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431536"/>
            <a:ext cx="1127729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 spc="130">
                <a:solidFill>
                  <a:srgbClr val="475569"/>
                </a:solidFill>
                <a:latin typeface="Open Sans"/>
              </a:rPr>
              <a:t>TRANSFORMATION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05856"/>
            <a:ext cx="5432907" cy="73152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ctr"/>
            <a:r>
              <a:rPr sz="1200" b="1" i="0">
                <a:solidFill>
                  <a:srgbClr val="2E2A6E"/>
                </a:solidFill>
                <a:latin typeface="Roboto"/>
              </a:rPr>
              <a:t>“Delivery reliability is emerging as a significant driver of customer dissatisfaction.”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1587" y="5705856"/>
            <a:ext cx="5432907" cy="731520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15214" bIns="115214"/>
          <a:lstStyle/>
          <a:p>
            <a:pPr algn="ctr"/>
            <a:r>
              <a:rPr sz="1200" b="1" i="0">
                <a:solidFill>
                  <a:srgbClr val="0F5C56"/>
                </a:solidFill>
                <a:latin typeface="Roboto"/>
              </a:rPr>
              <a:t>“Leadership priority: investigate delivery reliability and communication around delays.”</a:t>
            </a:r>
          </a:p>
        </p:txBody>
      </p:sp>
      <p:sp>
        <p:nvSpPr>
          <p:cNvPr id="35" name="Chevron 34"/>
          <p:cNvSpPr/>
          <p:nvPr/>
        </p:nvSpPr>
        <p:spPr>
          <a:xfrm>
            <a:off x="5995263" y="5925312"/>
            <a:ext cx="201168" cy="292608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THE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Making customer health visible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997556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7" y="1481328"/>
            <a:ext cx="6035040" cy="132506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e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27632"/>
            <a:ext cx="5742431" cy="1032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7" y="286125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64748B"/>
                </a:solidFill>
                <a:latin typeface="Open Sans"/>
              </a:rPr>
              <a:t>Customer health, NPS &amp; CSAT at a glance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51445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7" y="3190441"/>
            <a:ext cx="3291840" cy="940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ntiment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1" y="3336745"/>
            <a:ext cx="2999232" cy="64801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7" y="4185931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64748B"/>
                </a:solidFill>
                <a:latin typeface="Open Sans"/>
              </a:rPr>
              <a:t>Sentiment breakdown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5100331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7" y="4515115"/>
            <a:ext cx="3667254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in_driver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1" y="4661419"/>
            <a:ext cx="3374646" cy="117043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782822" y="4515115"/>
            <a:ext cx="3641008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ain_driver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26" y="4661419"/>
            <a:ext cx="3348400" cy="1170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1247" y="6033019"/>
            <a:ext cx="7582583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64748B"/>
                </a:solidFill>
                <a:latin typeface="Open Sans"/>
              </a:rPr>
              <a:t>Two of several business drivers surfaced from structured feedback — ranked by impact and evidence-backed.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From customer voice to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55648"/>
            <a:ext cx="2519116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609344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195925"/>
            <a:ext cx="2080204" cy="1862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0D9488"/>
                </a:solidFill>
                <a:latin typeface="Open Sans"/>
              </a:rPr>
              <a:t>CUSTOMER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473610"/>
            <a:ext cx="2080204" cy="387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293B"/>
                </a:solidFill>
                <a:latin typeface="Open Sans"/>
              </a:rPr>
              <a:t>Delivery appears in a large share of negative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0636" y="1755648"/>
            <a:ext cx="2519116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96940" y="1609344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0092" y="2195925"/>
            <a:ext cx="2080204" cy="1862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0D9488"/>
                </a:solidFill>
                <a:latin typeface="Open Sans"/>
              </a:rPr>
              <a:t>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092" y="2473610"/>
            <a:ext cx="2080204" cy="387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293B"/>
                </a:solidFill>
                <a:latin typeface="Open Sans"/>
              </a:rPr>
              <a:t>Delivery is disproportionately represented among detractors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073" y="1755648"/>
            <a:ext cx="2519116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90377" y="1609344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529" y="2195925"/>
            <a:ext cx="2080204" cy="1862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0D9488"/>
                </a:solidFill>
                <a:latin typeface="Open Sans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529" y="2473610"/>
            <a:ext cx="2080204" cy="387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E293B"/>
                </a:solidFill>
                <a:latin typeface="Open Sans"/>
              </a:rPr>
              <a:t>Delivery may be a customer-health driver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7510" y="1755648"/>
            <a:ext cx="2896984" cy="150876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83814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6966" y="2195925"/>
            <a:ext cx="2458072" cy="1862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 spc="130">
                <a:solidFill>
                  <a:srgbClr val="2E2A6E"/>
                </a:solidFill>
                <a:latin typeface="Open Sans"/>
              </a:rPr>
              <a:t>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6966" y="2473610"/>
            <a:ext cx="2458072" cy="3870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2E2A6E"/>
                </a:solidFill>
                <a:latin typeface="Open Sans"/>
              </a:rPr>
              <a:t>Investigate carrier performance and delivery communication</a:t>
            </a:r>
          </a:p>
        </p:txBody>
      </p:sp>
      <p:sp>
        <p:nvSpPr>
          <p:cNvPr id="20" name="Chevron 19"/>
          <p:cNvSpPr/>
          <p:nvPr/>
        </p:nvSpPr>
        <p:spPr>
          <a:xfrm>
            <a:off x="3031180" y="2327148"/>
            <a:ext cx="164592" cy="365760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5824617" y="2327148"/>
            <a:ext cx="164592" cy="365760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8618054" y="2327148"/>
            <a:ext cx="164592" cy="365760"/>
          </a:xfrm>
          <a:prstGeom prst="chevron">
            <a:avLst/>
          </a:prstGeom>
          <a:solidFill>
            <a:srgbClr val="0F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904488"/>
            <a:ext cx="9082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475569"/>
                </a:solidFill>
                <a:latin typeface="Roboto"/>
              </a:rPr>
              <a:t>InsightCX is intended to </a:t>
            </a:r>
            <a:r>
              <a:rPr sz="1600" b="1" i="0">
                <a:solidFill>
                  <a:srgbClr val="2E2A6E"/>
                </a:solidFill>
                <a:latin typeface="Roboto"/>
              </a:rPr>
              <a:t>augment CX expertise</a:t>
            </a:r>
            <a:r>
              <a:rPr sz="1600" b="0" i="0">
                <a:solidFill>
                  <a:srgbClr val="475569"/>
                </a:solidFill>
                <a:latin typeface="Roboto"/>
              </a:rPr>
              <a:t>, not replace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AI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A first benchmark — not the full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55648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spc="140">
                <a:solidFill>
                  <a:srgbClr val="0D9488"/>
                </a:solidFill>
                <a:latin typeface="Open Sans"/>
              </a:rPr>
              <a:t>CURRENT MVP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29968"/>
            <a:ext cx="5532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64748B"/>
                </a:solidFill>
                <a:latin typeface="Open Sans"/>
              </a:rPr>
              <a:t>25-record evaluation subset · same task &amp; prompts · identical dataset (v1)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GPT-5-mini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6960" y="2377440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GPT-4.1-mini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6720" y="2377440"/>
            <a:ext cx="17526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>
                <a:solidFill>
                  <a:srgbClr val="1E293B"/>
                </a:solidFill>
                <a:latin typeface="Open Sans"/>
              </a:rPr>
              <a:t>GPT-4o-mini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98064"/>
            <a:ext cx="1300734" cy="274320"/>
          </a:xfrm>
          <a:prstGeom prst="roundRect">
            <a:avLst>
              <a:gd name="adj" fmla="val 5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0F5C56"/>
                </a:solidFill>
                <a:latin typeface="Open Sans"/>
              </a:rPr>
              <a:t>Agreement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7662" y="2798064"/>
            <a:ext cx="1300734" cy="274320"/>
          </a:xfrm>
          <a:prstGeom prst="roundRect">
            <a:avLst>
              <a:gd name="adj" fmla="val 5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0F5C56"/>
                </a:solidFill>
                <a:latin typeface="Open Sans"/>
              </a:rPr>
              <a:t>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8124" y="2798064"/>
            <a:ext cx="1300734" cy="274320"/>
          </a:xfrm>
          <a:prstGeom prst="roundRect">
            <a:avLst>
              <a:gd name="adj" fmla="val 5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0F5C56"/>
                </a:solidFill>
                <a:latin typeface="Open Sans"/>
              </a:rPr>
              <a:t>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8586" y="2798064"/>
            <a:ext cx="1300734" cy="274320"/>
          </a:xfrm>
          <a:prstGeom prst="roundRect">
            <a:avLst>
              <a:gd name="adj" fmla="val 5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00" b="1" i="0">
                <a:solidFill>
                  <a:srgbClr val="0F5C56"/>
                </a:solidFill>
                <a:latin typeface="Open Sans"/>
              </a:rPr>
              <a:t>Cost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255264"/>
          <a:ext cx="5532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188720"/>
                <a:gridCol w="1143000"/>
                <a:gridCol w="960120"/>
                <a:gridCol w="11430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Roboto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2E2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Roboto"/>
                        </a:rPr>
                        <a:t>Latency (ms)</a:t>
                      </a:r>
                    </a:p>
                  </a:txBody>
                  <a:tcPr marL="73152" marR="73152" marT="27432" marB="27432" anchor="ctr">
                    <a:solidFill>
                      <a:srgbClr val="2E2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Roboto"/>
                        </a:rPr>
                        <a:t>Tokens/Rec.</a:t>
                      </a:r>
                    </a:p>
                  </a:txBody>
                  <a:tcPr marL="73152" marR="73152" marT="27432" marB="27432" anchor="ctr">
                    <a:solidFill>
                      <a:srgbClr val="2E2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Roboto"/>
                        </a:rPr>
                        <a:t>Cost/Rec.</a:t>
                      </a:r>
                    </a:p>
                  </a:txBody>
                  <a:tcPr marL="73152" marR="73152" marT="27432" marB="27432" anchor="ctr">
                    <a:solidFill>
                      <a:srgbClr val="2E2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Roboto"/>
                        </a:rPr>
                        <a:t>Agreement</a:t>
                      </a:r>
                    </a:p>
                  </a:txBody>
                  <a:tcPr marL="73152" marR="73152" marT="27432" marB="27432" anchor="ctr">
                    <a:solidFill>
                      <a:srgbClr val="2E2A6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293B"/>
                          </a:solidFill>
                          <a:latin typeface="Open Sans"/>
                        </a:rPr>
                        <a:t>gpt-5-mini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12,642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2,265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$0.0028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293B"/>
                          </a:solidFill>
                          <a:latin typeface="Open Sans"/>
                        </a:rPr>
                        <a:t>gpt-4.1-mini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12,762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2,180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$0.0023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E293B"/>
                          </a:solidFill>
                          <a:latin typeface="Open Sans"/>
                        </a:rPr>
                        <a:t>gpt-4o-mini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14,197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2,210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$0.0009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E293B"/>
                          </a:solidFill>
                          <a:latin typeface="Open Sans"/>
                        </a:rPr>
                        <a:t>92%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57200" y="4498848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64748B"/>
                </a:solidFill>
                <a:latin typeface="Open Sans"/>
              </a:rPr>
              <a:t>Based on a 25-record benchmark run per model (same dataset &amp; prompts, v1).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55648"/>
            <a:ext cx="53794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 spc="140">
                <a:solidFill>
                  <a:srgbClr val="4F46E5"/>
                </a:solidFill>
                <a:latin typeface="Open Sans"/>
              </a:rPr>
              <a:t>WHAT'S STILL MISSING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2377440"/>
            <a:ext cx="53794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01384" y="2249424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6248" y="2688336"/>
            <a:ext cx="49770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 spc="120">
                <a:solidFill>
                  <a:srgbClr val="4F46E5"/>
                </a:solidFill>
                <a:latin typeface="Open Sans"/>
              </a:rPr>
              <a:t>STRUCTURED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926080"/>
            <a:ext cx="4977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E293B"/>
                </a:solidFill>
                <a:latin typeface="Open Sans"/>
              </a:rPr>
              <a:t>Initial benchmark → deeper quality validation needed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657600"/>
            <a:ext cx="53794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01384" y="3529584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968496"/>
            <a:ext cx="497707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 spc="120">
                <a:solidFill>
                  <a:srgbClr val="4F46E5"/>
                </a:solidFill>
                <a:latin typeface="Open Sans"/>
              </a:rPr>
              <a:t>EXECUTIVE 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06240"/>
            <a:ext cx="4977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E293B"/>
                </a:solidFill>
                <a:latin typeface="Open Sans"/>
              </a:rPr>
              <a:t>Evaluation framework still to be developed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001768"/>
            <a:ext cx="94484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1E293B"/>
                </a:solidFill>
                <a:latin typeface="Roboto"/>
              </a:rPr>
              <a:t>The MVP establishes an evaluation </a:t>
            </a:r>
            <a:r>
              <a:rPr sz="1500" b="1" i="0">
                <a:solidFill>
                  <a:srgbClr val="0F5C56"/>
                </a:solidFill>
                <a:latin typeface="Roboto"/>
              </a:rPr>
              <a:t>starting point</a:t>
            </a:r>
            <a:r>
              <a:rPr sz="1500" b="0" i="0">
                <a:solidFill>
                  <a:srgbClr val="1E293B"/>
                </a:solidFill>
                <a:latin typeface="Roboto"/>
              </a:rPr>
              <a:t> — not a complete quality framework.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What it took to build InsightCX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25296"/>
            <a:ext cx="11277295" cy="4674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475569"/>
                </a:solidFill>
                <a:latin typeface="Open Sans"/>
              </a:rPr>
              <a:t>Integrating an LLM is relatively easy — designing useful output, handling variability, and evaluating whether the result is actually useful are the harder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30527"/>
            <a:ext cx="5501487" cy="2097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224027"/>
          <a:lstStyle/>
          <a:p>
            <a:pPr algn="l"/>
            <a:r>
              <a:rPr sz="1700" b="1" i="0">
                <a:solidFill>
                  <a:srgbClr val="0F172A"/>
                </a:solidFill>
                <a:latin typeface="Roboto"/>
              </a:rPr>
              <a:t>Domain knowledge still matters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250" b="0" i="0">
                <a:solidFill>
                  <a:srgbClr val="475569"/>
                </a:solidFill>
                <a:latin typeface="Open Sans"/>
              </a:rPr>
              <a:t>Understanding the CX problem helped shape the AI requirements and interpret the results.</a:t>
            </a:r>
          </a:p>
        </p:txBody>
      </p:sp>
      <p:sp>
        <p:nvSpPr>
          <p:cNvPr id="6" name="Oval 5"/>
          <p:cNvSpPr/>
          <p:nvPr/>
        </p:nvSpPr>
        <p:spPr>
          <a:xfrm>
            <a:off x="649224" y="1738503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930527"/>
            <a:ext cx="5501487" cy="2097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224027"/>
          <a:lstStyle/>
          <a:p>
            <a:pPr algn="l"/>
            <a:r>
              <a:rPr sz="1700" b="1" i="0">
                <a:solidFill>
                  <a:srgbClr val="0F172A"/>
                </a:solidFill>
                <a:latin typeface="Roboto"/>
              </a:rPr>
              <a:t>Creating meaningful test data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250" b="0" i="0">
                <a:solidFill>
                  <a:srgbClr val="475569"/>
                </a:solidFill>
                <a:latin typeface="Open Sans"/>
              </a:rPr>
              <a:t>Building realistic, varied feedback capable of revealing genuine patterns.</a:t>
            </a:r>
          </a:p>
        </p:txBody>
      </p:sp>
      <p:sp>
        <p:nvSpPr>
          <p:cNvPr id="8" name="Oval 7"/>
          <p:cNvSpPr/>
          <p:nvPr/>
        </p:nvSpPr>
        <p:spPr>
          <a:xfrm>
            <a:off x="6425031" y="1738503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48543"/>
            <a:ext cx="5501487" cy="2097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224027"/>
          <a:lstStyle/>
          <a:p>
            <a:pPr algn="l"/>
            <a:r>
              <a:rPr sz="1700" b="1" i="0">
                <a:solidFill>
                  <a:srgbClr val="0F172A"/>
                </a:solidFill>
                <a:latin typeface="Roboto"/>
              </a:rPr>
              <a:t>Evaluating AI, not just using it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250" b="0" i="0">
                <a:solidFill>
                  <a:srgbClr val="475569"/>
                </a:solidFill>
                <a:latin typeface="Open Sans"/>
              </a:rPr>
              <a:t>Comparing models across quality, consistency, latency and cost.</a:t>
            </a:r>
          </a:p>
        </p:txBody>
      </p:sp>
      <p:sp>
        <p:nvSpPr>
          <p:cNvPr id="10" name="Oval 9"/>
          <p:cNvSpPr/>
          <p:nvPr/>
        </p:nvSpPr>
        <p:spPr>
          <a:xfrm>
            <a:off x="649224" y="4156519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4348543"/>
            <a:ext cx="5501487" cy="20979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4027" bIns="224027"/>
          <a:lstStyle/>
          <a:p>
            <a:pPr algn="l"/>
            <a:r>
              <a:rPr sz="1700" b="1" i="0">
                <a:solidFill>
                  <a:srgbClr val="0F172A"/>
                </a:solidFill>
                <a:latin typeface="Roboto"/>
              </a:rPr>
              <a:t>Integrating a full-stack AI application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250" b="0" i="0">
                <a:solidFill>
                  <a:srgbClr val="475569"/>
                </a:solidFill>
                <a:latin typeface="Open Sans"/>
              </a:rPr>
              <a:t>Connecting Flask, database, LLM services and React while learning the stack.</a:t>
            </a:r>
          </a:p>
        </p:txBody>
      </p:sp>
      <p:sp>
        <p:nvSpPr>
          <p:cNvPr id="12" name="Oval 11"/>
          <p:cNvSpPr/>
          <p:nvPr/>
        </p:nvSpPr>
        <p:spPr>
          <a:xfrm>
            <a:off x="6425031" y="4156519"/>
            <a:ext cx="384048" cy="38404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Taking InsightCX beyond the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55648"/>
            <a:ext cx="3606698" cy="2880360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/>
            <a:r>
              <a:rPr sz="1300" b="1" i="0">
                <a:solidFill>
                  <a:srgbClr val="0F5C56"/>
                </a:solidFill>
                <a:latin typeface="Roboto"/>
              </a:rPr>
              <a:t>Human-in-the-loop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Allow users to review, validate and correct AI classifications, creating a feedback loop to improve analysis quality.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2498" y="1755648"/>
            <a:ext cx="3606698" cy="288036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/>
            <a:r>
              <a:rPr sz="1300" b="1" i="0">
                <a:solidFill>
                  <a:srgbClr val="2E2A6E"/>
                </a:solidFill>
                <a:latin typeface="Roboto"/>
              </a:rPr>
              <a:t>Trend analysis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Track themes, sentiment and customer issues over time to identify emerging problems and measure whether actions are working.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7796" y="1755648"/>
            <a:ext cx="3606698" cy="2880360"/>
          </a:xfrm>
          <a:prstGeom prst="roundRect">
            <a:avLst>
              <a:gd name="adj" fmla="val 10000"/>
            </a:avLst>
          </a:prstGeom>
          <a:solidFill>
            <a:srgbClr val="E7F8F4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/>
            <a:r>
              <a:rPr sz="1300" b="1" i="0">
                <a:solidFill>
                  <a:srgbClr val="0F5C56"/>
                </a:solidFill>
                <a:latin typeface="Roboto"/>
              </a:rPr>
              <a:t>Advanced evaluation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050" b="0" i="0">
                <a:solidFill>
                  <a:srgbClr val="475569"/>
                </a:solidFill>
                <a:latin typeface="Open Sans"/>
              </a:rPr>
              <a:t>Introduce ground-truth datasets and formal quality metrics to systematically measure and improve AI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10328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1">
                <a:solidFill>
                  <a:srgbClr val="64748B"/>
                </a:solidFill>
                <a:latin typeface="Open Sans"/>
              </a:rPr>
              <a:t>Not a committed roadmap — potential next steps based on what the MVP surfaced.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112772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 spc="170">
                <a:solidFill>
                  <a:srgbClr val="0D9488"/>
                </a:solidFill>
                <a:latin typeface="Open Sans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94944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0F172A"/>
                </a:solidFill>
                <a:latin typeface="Roboto"/>
              </a:rPr>
              <a:t>From current state to new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55648"/>
            <a:ext cx="2627299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56816"/>
            <a:ext cx="22249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 spc="120">
                <a:solidFill>
                  <a:srgbClr val="4F46E5"/>
                </a:solidFill>
                <a:latin typeface="Open Sans"/>
              </a:rPr>
              <a:t>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222496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F172A"/>
                </a:solidFill>
                <a:latin typeface="Roboto"/>
              </a:rPr>
              <a:t>Review current-state 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51760"/>
            <a:ext cx="222496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Open Sans"/>
              </a:rPr>
              <a:t>What is happening today?</a:t>
            </a:r>
          </a:p>
        </p:txBody>
      </p:sp>
      <p:sp>
        <p:nvSpPr>
          <p:cNvPr id="9" name="Chevron 8"/>
          <p:cNvSpPr/>
          <p:nvPr/>
        </p:nvSpPr>
        <p:spPr>
          <a:xfrm>
            <a:off x="3121075" y="2340864"/>
            <a:ext cx="182880" cy="292608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0531" y="1755648"/>
            <a:ext cx="2627299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6835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699" y="1956816"/>
            <a:ext cx="22249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 spc="120">
                <a:solidFill>
                  <a:srgbClr val="4F46E5"/>
                </a:solidFill>
                <a:latin typeface="Open Sans"/>
              </a:rPr>
              <a:t>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1699" y="2194560"/>
            <a:ext cx="222496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F172A"/>
                </a:solidFill>
                <a:latin typeface="Roboto"/>
              </a:rPr>
              <a:t>Upload new customer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1699" y="2651760"/>
            <a:ext cx="222496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Open Sans"/>
              </a:rPr>
              <a:t>Introduce a new set of customer voices</a:t>
            </a:r>
          </a:p>
        </p:txBody>
      </p:sp>
      <p:sp>
        <p:nvSpPr>
          <p:cNvPr id="15" name="Chevron 14"/>
          <p:cNvSpPr/>
          <p:nvPr/>
        </p:nvSpPr>
        <p:spPr>
          <a:xfrm>
            <a:off x="6004407" y="2340864"/>
            <a:ext cx="182880" cy="292608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3863" y="1755648"/>
            <a:ext cx="2627299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0167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5031" y="1956816"/>
            <a:ext cx="22249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 spc="120">
                <a:solidFill>
                  <a:srgbClr val="4F46E5"/>
                </a:solidFill>
                <a:latin typeface="Open Sans"/>
              </a:rP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5031" y="2194560"/>
            <a:ext cx="222496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F172A"/>
                </a:solidFill>
                <a:latin typeface="Roboto"/>
              </a:rPr>
              <a:t>Generate a new executive 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031" y="2651760"/>
            <a:ext cx="222496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Open Sans"/>
              </a:rPr>
              <a:t>Turn the updated feedback into business insight</a:t>
            </a:r>
          </a:p>
        </p:txBody>
      </p:sp>
      <p:sp>
        <p:nvSpPr>
          <p:cNvPr id="21" name="Chevron 20"/>
          <p:cNvSpPr/>
          <p:nvPr/>
        </p:nvSpPr>
        <p:spPr>
          <a:xfrm>
            <a:off x="8887739" y="2340864"/>
            <a:ext cx="182880" cy="292608"/>
          </a:xfrm>
          <a:prstGeom prst="chevron">
            <a:avLst/>
          </a:prstGeom>
          <a:solidFill>
            <a:srgbClr val="2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07195" y="1755648"/>
            <a:ext cx="2627299" cy="1463040"/>
          </a:xfrm>
          <a:prstGeom prst="roundRect">
            <a:avLst>
              <a:gd name="adj" fmla="val 1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53499" y="1609344"/>
            <a:ext cx="292608" cy="292608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363" y="1956816"/>
            <a:ext cx="22249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 spc="120">
                <a:solidFill>
                  <a:srgbClr val="4F46E5"/>
                </a:solidFill>
                <a:latin typeface="Open Sans"/>
              </a:rP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363" y="2194560"/>
            <a:ext cx="222496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0F172A"/>
                </a:solidFill>
                <a:latin typeface="Roboto"/>
              </a:rPr>
              <a:t>Review changes in the Executive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363" y="2651760"/>
            <a:ext cx="222496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64748B"/>
                </a:solidFill>
                <a:latin typeface="Open Sans"/>
              </a:rPr>
              <a:t>What changed — and what does it mean?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675888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 i="1">
                <a:solidFill>
                  <a:srgbClr val="64748B"/>
                </a:solidFill>
                <a:latin typeface="Open Sans"/>
              </a:rPr>
              <a:t>New customer feedback → updated analysis → changed business 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>
                <a:solidFill>
                  <a:srgbClr val="94A3B8"/>
                </a:solidFill>
                <a:latin typeface="Roboto"/>
              </a:rPr>
              <a:t>InsightCX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653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94A3B8"/>
                </a:solidFill>
                <a:latin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847" y="137160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0" i="1">
                <a:solidFill>
                  <a:srgbClr val="1E293B"/>
                </a:solidFill>
                <a:latin typeface="Roboto"/>
              </a:rPr>
              <a:t>InsightCX is about using AI to make customer feedback more structured, scalable and actionable — so CX teams can spend less time processing feedback and more time acting on it.</a:t>
            </a:r>
          </a:p>
        </p:txBody>
      </p:sp>
      <p:pic>
        <p:nvPicPr>
          <p:cNvPr id="3" name="Picture 2" descr="insightcx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67" y="3977639"/>
            <a:ext cx="4023360" cy="958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52647" y="5056516"/>
            <a:ext cx="5486400" cy="2034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44" b="1" i="0" spc="100">
                <a:solidFill>
                  <a:srgbClr val="0F5C56"/>
                </a:solidFill>
                <a:latin typeface="Open Sans"/>
              </a:rPr>
              <a:t>Every Voice. Every Insight.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